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3" r:id="rId6"/>
    <p:sldId id="264" r:id="rId7"/>
    <p:sldId id="265" r:id="rId8"/>
    <p:sldId id="260" r:id="rId9"/>
    <p:sldId id="267" r:id="rId10"/>
    <p:sldId id="266" r:id="rId11"/>
    <p:sldId id="262" r:id="rId12"/>
    <p:sldId id="268" r:id="rId13"/>
    <p:sldId id="261" r:id="rId14"/>
  </p:sldIdLst>
  <p:sldSz cx="9144000" cy="5143500" type="screen16x9"/>
  <p:notesSz cx="6858000" cy="9144000"/>
  <p:embeddedFontLst>
    <p:embeddedFont>
      <p:font typeface="Roboto" panose="02000000000000000000" pitchFamily="2" charset="0"/>
      <p:regular r:id="rId16"/>
      <p:bold r:id="rId17"/>
      <p:italic r:id="rId18"/>
      <p:boldItalic r:id="rId19"/>
    </p:embeddedFont>
    <p:embeddedFont>
      <p:font typeface="Roboto Slab" pitchFamily="2" charset="0"/>
      <p:regular r:id="rId20"/>
      <p:bold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hnhT3gIw6FOvW5xyCHR27w99wa+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65" autoAdjust="0"/>
    <p:restoredTop sz="94660"/>
  </p:normalViewPr>
  <p:slideViewPr>
    <p:cSldViewPr snapToGrid="0">
      <p:cViewPr varScale="1">
        <p:scale>
          <a:sx n="142" d="100"/>
          <a:sy n="142" d="100"/>
        </p:scale>
        <p:origin x="188" y="8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 name="Google Shape;7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C8B25752-3E76-9DF3-F213-9063826686DE}"/>
            </a:ext>
          </a:extLst>
        </p:cNvPr>
        <p:cNvGrpSpPr/>
        <p:nvPr/>
      </p:nvGrpSpPr>
      <p:grpSpPr>
        <a:xfrm>
          <a:off x="0" y="0"/>
          <a:ext cx="0" cy="0"/>
          <a:chOff x="0" y="0"/>
          <a:chExt cx="0" cy="0"/>
        </a:xfrm>
      </p:grpSpPr>
      <p:sp>
        <p:nvSpPr>
          <p:cNvPr id="82" name="Google Shape;82;p4:notes">
            <a:extLst>
              <a:ext uri="{FF2B5EF4-FFF2-40B4-BE49-F238E27FC236}">
                <a16:creationId xmlns:a16="http://schemas.microsoft.com/office/drawing/2014/main" id="{EB51A6D8-0FB4-5D51-31DD-16316A5740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4:notes">
            <a:extLst>
              <a:ext uri="{FF2B5EF4-FFF2-40B4-BE49-F238E27FC236}">
                <a16:creationId xmlns:a16="http://schemas.microsoft.com/office/drawing/2014/main" id="{F865AA78-102F-19A0-0113-B8AA0EE5C0E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53805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EBA6FE90-F5C7-44CB-EBE0-5A9BD0069BBE}"/>
            </a:ext>
          </a:extLst>
        </p:cNvPr>
        <p:cNvGrpSpPr/>
        <p:nvPr/>
      </p:nvGrpSpPr>
      <p:grpSpPr>
        <a:xfrm>
          <a:off x="0" y="0"/>
          <a:ext cx="0" cy="0"/>
          <a:chOff x="0" y="0"/>
          <a:chExt cx="0" cy="0"/>
        </a:xfrm>
      </p:grpSpPr>
      <p:sp>
        <p:nvSpPr>
          <p:cNvPr id="89" name="Google Shape;89;p5:notes">
            <a:extLst>
              <a:ext uri="{FF2B5EF4-FFF2-40B4-BE49-F238E27FC236}">
                <a16:creationId xmlns:a16="http://schemas.microsoft.com/office/drawing/2014/main" id="{87455F2D-85C4-B0E3-280F-AB29E76CB0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5:notes">
            <a:extLst>
              <a:ext uri="{FF2B5EF4-FFF2-40B4-BE49-F238E27FC236}">
                <a16:creationId xmlns:a16="http://schemas.microsoft.com/office/drawing/2014/main" id="{40080F37-151D-F666-7141-A62F7D8BC58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776250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1D293F1D-F93D-03AF-69E2-2369FBF97D90}"/>
            </a:ext>
          </a:extLst>
        </p:cNvPr>
        <p:cNvGrpSpPr/>
        <p:nvPr/>
      </p:nvGrpSpPr>
      <p:grpSpPr>
        <a:xfrm>
          <a:off x="0" y="0"/>
          <a:ext cx="0" cy="0"/>
          <a:chOff x="0" y="0"/>
          <a:chExt cx="0" cy="0"/>
        </a:xfrm>
      </p:grpSpPr>
      <p:sp>
        <p:nvSpPr>
          <p:cNvPr id="98" name="Google Shape;98;g83372e3e9c_0_0:notes">
            <a:extLst>
              <a:ext uri="{FF2B5EF4-FFF2-40B4-BE49-F238E27FC236}">
                <a16:creationId xmlns:a16="http://schemas.microsoft.com/office/drawing/2014/main" id="{7FB8BB7A-AD78-0AFE-03A0-BFA06EFB14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 name="Google Shape;99;g83372e3e9c_0_0:notes">
            <a:extLst>
              <a:ext uri="{FF2B5EF4-FFF2-40B4-BE49-F238E27FC236}">
                <a16:creationId xmlns:a16="http://schemas.microsoft.com/office/drawing/2014/main" id="{A4CF354E-BFDE-752C-AF67-C11EE9EF3CE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519486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48BC481D-0337-2603-1A55-184535EA161E}"/>
            </a:ext>
          </a:extLst>
        </p:cNvPr>
        <p:cNvGrpSpPr/>
        <p:nvPr/>
      </p:nvGrpSpPr>
      <p:grpSpPr>
        <a:xfrm>
          <a:off x="0" y="0"/>
          <a:ext cx="0" cy="0"/>
          <a:chOff x="0" y="0"/>
          <a:chExt cx="0" cy="0"/>
        </a:xfrm>
      </p:grpSpPr>
      <p:sp>
        <p:nvSpPr>
          <p:cNvPr id="89" name="Google Shape;89;p5:notes">
            <a:extLst>
              <a:ext uri="{FF2B5EF4-FFF2-40B4-BE49-F238E27FC236}">
                <a16:creationId xmlns:a16="http://schemas.microsoft.com/office/drawing/2014/main" id="{C3E6F822-C0F4-50D4-3A4D-2153330CF1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5:notes">
            <a:extLst>
              <a:ext uri="{FF2B5EF4-FFF2-40B4-BE49-F238E27FC236}">
                <a16:creationId xmlns:a16="http://schemas.microsoft.com/office/drawing/2014/main" id="{95640548-BC32-55B5-92BA-3DF1EF01161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98987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5A94C169-6E85-751F-E660-1FE16686D85B}"/>
            </a:ext>
          </a:extLst>
        </p:cNvPr>
        <p:cNvGrpSpPr/>
        <p:nvPr/>
      </p:nvGrpSpPr>
      <p:grpSpPr>
        <a:xfrm>
          <a:off x="0" y="0"/>
          <a:ext cx="0" cy="0"/>
          <a:chOff x="0" y="0"/>
          <a:chExt cx="0" cy="0"/>
        </a:xfrm>
      </p:grpSpPr>
      <p:sp>
        <p:nvSpPr>
          <p:cNvPr id="89" name="Google Shape;89;p5:notes">
            <a:extLst>
              <a:ext uri="{FF2B5EF4-FFF2-40B4-BE49-F238E27FC236}">
                <a16:creationId xmlns:a16="http://schemas.microsoft.com/office/drawing/2014/main" id="{A44121A6-1C6A-6304-1C02-93B3CAB96A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5:notes">
            <a:extLst>
              <a:ext uri="{FF2B5EF4-FFF2-40B4-BE49-F238E27FC236}">
                <a16:creationId xmlns:a16="http://schemas.microsoft.com/office/drawing/2014/main" id="{A6C66DF9-2DF0-A33C-6201-639CB197010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65439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83372e3e9c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g83372e3e9c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E5ACD01-046B-8E71-0CCB-C35D3E3A57DB}"/>
            </a:ext>
          </a:extLst>
        </p:cNvPr>
        <p:cNvGrpSpPr/>
        <p:nvPr/>
      </p:nvGrpSpPr>
      <p:grpSpPr>
        <a:xfrm>
          <a:off x="0" y="0"/>
          <a:ext cx="0" cy="0"/>
          <a:chOff x="0" y="0"/>
          <a:chExt cx="0" cy="0"/>
        </a:xfrm>
      </p:grpSpPr>
      <p:sp>
        <p:nvSpPr>
          <p:cNvPr id="105" name="Google Shape;105;g83372e3e9c_2_0:notes">
            <a:extLst>
              <a:ext uri="{FF2B5EF4-FFF2-40B4-BE49-F238E27FC236}">
                <a16:creationId xmlns:a16="http://schemas.microsoft.com/office/drawing/2014/main" id="{8B163F2C-FF9D-DE0D-B3B7-1D676AB06A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g83372e3e9c_2_0:notes">
            <a:extLst>
              <a:ext uri="{FF2B5EF4-FFF2-40B4-BE49-F238E27FC236}">
                <a16:creationId xmlns:a16="http://schemas.microsoft.com/office/drawing/2014/main" id="{D605C054-54F5-E3A7-A419-8A726CC0105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618318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83372e3e9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 name="Google Shape;99;g83372e3e9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
        <p:cNvGrpSpPr/>
        <p:nvPr/>
      </p:nvGrpSpPr>
      <p:grpSpPr>
        <a:xfrm>
          <a:off x="0" y="0"/>
          <a:ext cx="0" cy="0"/>
          <a:chOff x="0" y="0"/>
          <a:chExt cx="0" cy="0"/>
        </a:xfrm>
      </p:grpSpPr>
      <p:cxnSp>
        <p:nvCxnSpPr>
          <p:cNvPr id="10" name="Google Shape;10;g83372e3e9c_1_3138"/>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1" name="Google Shape;11;g83372e3e9c_1_3138"/>
          <p:cNvSpPr txBox="1">
            <a:spLocks noGrp="1"/>
          </p:cNvSpPr>
          <p:nvPr>
            <p:ph type="title"/>
          </p:nvPr>
        </p:nvSpPr>
        <p:spPr>
          <a:xfrm>
            <a:off x="480750" y="1764950"/>
            <a:ext cx="8222100" cy="907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12" name="Google Shape;12;g83372e3e9c_1_31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3"/>
        <p:cNvGrpSpPr/>
        <p:nvPr/>
      </p:nvGrpSpPr>
      <p:grpSpPr>
        <a:xfrm>
          <a:off x="0" y="0"/>
          <a:ext cx="0" cy="0"/>
          <a:chOff x="0" y="0"/>
          <a:chExt cx="0" cy="0"/>
        </a:xfrm>
      </p:grpSpPr>
      <p:sp>
        <p:nvSpPr>
          <p:cNvPr id="14" name="Google Shape;14;g83372e3e9c_1_3174"/>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g83372e3e9c_1_3174"/>
          <p:cNvSpPr txBox="1">
            <a:spLocks noGrp="1"/>
          </p:cNvSpPr>
          <p:nvPr>
            <p:ph type="title" hasCustomPrompt="1"/>
          </p:nvPr>
        </p:nvSpPr>
        <p:spPr>
          <a:xfrm>
            <a:off x="387900" y="1152450"/>
            <a:ext cx="8368200" cy="1538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accent5"/>
              </a:buClr>
              <a:buSzPts val="13000"/>
              <a:buNone/>
              <a:defRPr sz="13000">
                <a:solidFill>
                  <a:schemeClr val="accent5"/>
                </a:solidFill>
              </a:defRPr>
            </a:lvl1pPr>
            <a:lvl2pPr lvl="1" algn="ctr">
              <a:lnSpc>
                <a:spcPct val="100000"/>
              </a:lnSpc>
              <a:spcBef>
                <a:spcPts val="0"/>
              </a:spcBef>
              <a:spcAft>
                <a:spcPts val="0"/>
              </a:spcAft>
              <a:buClr>
                <a:schemeClr val="accent5"/>
              </a:buClr>
              <a:buSzPts val="13000"/>
              <a:buNone/>
              <a:defRPr sz="13000">
                <a:solidFill>
                  <a:schemeClr val="accent5"/>
                </a:solidFill>
              </a:defRPr>
            </a:lvl2pPr>
            <a:lvl3pPr lvl="2" algn="ctr">
              <a:lnSpc>
                <a:spcPct val="100000"/>
              </a:lnSpc>
              <a:spcBef>
                <a:spcPts val="0"/>
              </a:spcBef>
              <a:spcAft>
                <a:spcPts val="0"/>
              </a:spcAft>
              <a:buClr>
                <a:schemeClr val="accent5"/>
              </a:buClr>
              <a:buSzPts val="13000"/>
              <a:buNone/>
              <a:defRPr sz="13000">
                <a:solidFill>
                  <a:schemeClr val="accent5"/>
                </a:solidFill>
              </a:defRPr>
            </a:lvl3pPr>
            <a:lvl4pPr lvl="3" algn="ctr">
              <a:lnSpc>
                <a:spcPct val="100000"/>
              </a:lnSpc>
              <a:spcBef>
                <a:spcPts val="0"/>
              </a:spcBef>
              <a:spcAft>
                <a:spcPts val="0"/>
              </a:spcAft>
              <a:buClr>
                <a:schemeClr val="accent5"/>
              </a:buClr>
              <a:buSzPts val="13000"/>
              <a:buNone/>
              <a:defRPr sz="13000">
                <a:solidFill>
                  <a:schemeClr val="accent5"/>
                </a:solidFill>
              </a:defRPr>
            </a:lvl4pPr>
            <a:lvl5pPr lvl="4" algn="ctr">
              <a:lnSpc>
                <a:spcPct val="100000"/>
              </a:lnSpc>
              <a:spcBef>
                <a:spcPts val="0"/>
              </a:spcBef>
              <a:spcAft>
                <a:spcPts val="0"/>
              </a:spcAft>
              <a:buClr>
                <a:schemeClr val="accent5"/>
              </a:buClr>
              <a:buSzPts val="13000"/>
              <a:buNone/>
              <a:defRPr sz="13000">
                <a:solidFill>
                  <a:schemeClr val="accent5"/>
                </a:solidFill>
              </a:defRPr>
            </a:lvl5pPr>
            <a:lvl6pPr lvl="5" algn="ctr">
              <a:lnSpc>
                <a:spcPct val="100000"/>
              </a:lnSpc>
              <a:spcBef>
                <a:spcPts val="0"/>
              </a:spcBef>
              <a:spcAft>
                <a:spcPts val="0"/>
              </a:spcAft>
              <a:buClr>
                <a:schemeClr val="accent5"/>
              </a:buClr>
              <a:buSzPts val="13000"/>
              <a:buNone/>
              <a:defRPr sz="13000">
                <a:solidFill>
                  <a:schemeClr val="accent5"/>
                </a:solidFill>
              </a:defRPr>
            </a:lvl6pPr>
            <a:lvl7pPr lvl="6" algn="ctr">
              <a:lnSpc>
                <a:spcPct val="100000"/>
              </a:lnSpc>
              <a:spcBef>
                <a:spcPts val="0"/>
              </a:spcBef>
              <a:spcAft>
                <a:spcPts val="0"/>
              </a:spcAft>
              <a:buClr>
                <a:schemeClr val="accent5"/>
              </a:buClr>
              <a:buSzPts val="13000"/>
              <a:buNone/>
              <a:defRPr sz="13000">
                <a:solidFill>
                  <a:schemeClr val="accent5"/>
                </a:solidFill>
              </a:defRPr>
            </a:lvl7pPr>
            <a:lvl8pPr lvl="7" algn="ctr">
              <a:lnSpc>
                <a:spcPct val="100000"/>
              </a:lnSpc>
              <a:spcBef>
                <a:spcPts val="0"/>
              </a:spcBef>
              <a:spcAft>
                <a:spcPts val="0"/>
              </a:spcAft>
              <a:buClr>
                <a:schemeClr val="accent5"/>
              </a:buClr>
              <a:buSzPts val="13000"/>
              <a:buNone/>
              <a:defRPr sz="13000">
                <a:solidFill>
                  <a:schemeClr val="accent5"/>
                </a:solidFill>
              </a:defRPr>
            </a:lvl8pPr>
            <a:lvl9pPr lvl="8" algn="ctr">
              <a:lnSpc>
                <a:spcPct val="100000"/>
              </a:lnSpc>
              <a:spcBef>
                <a:spcPts val="0"/>
              </a:spcBef>
              <a:spcAft>
                <a:spcPts val="0"/>
              </a:spcAft>
              <a:buClr>
                <a:schemeClr val="accent5"/>
              </a:buClr>
              <a:buSzPts val="13000"/>
              <a:buNone/>
              <a:defRPr sz="13000">
                <a:solidFill>
                  <a:schemeClr val="accent5"/>
                </a:solidFill>
              </a:defRPr>
            </a:lvl9pPr>
          </a:lstStyle>
          <a:p>
            <a:r>
              <a:t>xx%</a:t>
            </a:r>
          </a:p>
        </p:txBody>
      </p:sp>
      <p:sp>
        <p:nvSpPr>
          <p:cNvPr id="16" name="Google Shape;16;g83372e3e9c_1_3174"/>
          <p:cNvSpPr txBox="1">
            <a:spLocks noGrp="1"/>
          </p:cNvSpPr>
          <p:nvPr>
            <p:ph type="body" idx="1"/>
          </p:nvPr>
        </p:nvSpPr>
        <p:spPr>
          <a:xfrm>
            <a:off x="387900" y="2919450"/>
            <a:ext cx="8368200" cy="10716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17" name="Google Shape;17;g83372e3e9c_1_317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g83372e3e9c_1_317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g83372e3e9c_1_3131"/>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sp>
        <p:nvSpPr>
          <p:cNvPr id="22" name="Google Shape;22;g83372e3e9c_1_3131"/>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cxnSp>
        <p:nvCxnSpPr>
          <p:cNvPr id="23" name="Google Shape;23;g83372e3e9c_1_3131"/>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24" name="Google Shape;24;g83372e3e9c_1_3131"/>
          <p:cNvSpPr txBox="1">
            <a:spLocks noGrp="1"/>
          </p:cNvSpPr>
          <p:nvPr>
            <p:ph type="ctrTitle"/>
          </p:nvPr>
        </p:nvSpPr>
        <p:spPr>
          <a:xfrm>
            <a:off x="1680302" y="1188925"/>
            <a:ext cx="5783400" cy="1457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000"/>
              <a:buNone/>
              <a:defRPr sz="4000"/>
            </a:lvl1pPr>
            <a:lvl2pPr lvl="1" algn="ctr">
              <a:lnSpc>
                <a:spcPct val="100000"/>
              </a:lnSpc>
              <a:spcBef>
                <a:spcPts val="0"/>
              </a:spcBef>
              <a:spcAft>
                <a:spcPts val="0"/>
              </a:spcAft>
              <a:buSzPts val="4000"/>
              <a:buNone/>
              <a:defRPr sz="4000"/>
            </a:lvl2pPr>
            <a:lvl3pPr lvl="2" algn="ctr">
              <a:lnSpc>
                <a:spcPct val="100000"/>
              </a:lnSpc>
              <a:spcBef>
                <a:spcPts val="0"/>
              </a:spcBef>
              <a:spcAft>
                <a:spcPts val="0"/>
              </a:spcAft>
              <a:buSzPts val="4000"/>
              <a:buNone/>
              <a:defRPr sz="4000"/>
            </a:lvl3pPr>
            <a:lvl4pPr lvl="3" algn="ctr">
              <a:lnSpc>
                <a:spcPct val="100000"/>
              </a:lnSpc>
              <a:spcBef>
                <a:spcPts val="0"/>
              </a:spcBef>
              <a:spcAft>
                <a:spcPts val="0"/>
              </a:spcAft>
              <a:buSzPts val="4000"/>
              <a:buNone/>
              <a:defRPr sz="4000"/>
            </a:lvl4pPr>
            <a:lvl5pPr lvl="4" algn="ctr">
              <a:lnSpc>
                <a:spcPct val="100000"/>
              </a:lnSpc>
              <a:spcBef>
                <a:spcPts val="0"/>
              </a:spcBef>
              <a:spcAft>
                <a:spcPts val="0"/>
              </a:spcAft>
              <a:buSzPts val="4000"/>
              <a:buNone/>
              <a:defRPr sz="4000"/>
            </a:lvl5pPr>
            <a:lvl6pPr lvl="5" algn="ctr">
              <a:lnSpc>
                <a:spcPct val="100000"/>
              </a:lnSpc>
              <a:spcBef>
                <a:spcPts val="0"/>
              </a:spcBef>
              <a:spcAft>
                <a:spcPts val="0"/>
              </a:spcAft>
              <a:buSzPts val="4000"/>
              <a:buNone/>
              <a:defRPr sz="4000"/>
            </a:lvl6pPr>
            <a:lvl7pPr lvl="6" algn="ctr">
              <a:lnSpc>
                <a:spcPct val="100000"/>
              </a:lnSpc>
              <a:spcBef>
                <a:spcPts val="0"/>
              </a:spcBef>
              <a:spcAft>
                <a:spcPts val="0"/>
              </a:spcAft>
              <a:buSzPts val="4000"/>
              <a:buNone/>
              <a:defRPr sz="4000"/>
            </a:lvl7pPr>
            <a:lvl8pPr lvl="7" algn="ctr">
              <a:lnSpc>
                <a:spcPct val="100000"/>
              </a:lnSpc>
              <a:spcBef>
                <a:spcPts val="0"/>
              </a:spcBef>
              <a:spcAft>
                <a:spcPts val="0"/>
              </a:spcAft>
              <a:buSzPts val="4000"/>
              <a:buNone/>
              <a:defRPr sz="4000"/>
            </a:lvl8pPr>
            <a:lvl9pPr lvl="8" algn="ctr">
              <a:lnSpc>
                <a:spcPct val="100000"/>
              </a:lnSpc>
              <a:spcBef>
                <a:spcPts val="0"/>
              </a:spcBef>
              <a:spcAft>
                <a:spcPts val="0"/>
              </a:spcAft>
              <a:buSzPts val="4000"/>
              <a:buNone/>
              <a:defRPr sz="4000"/>
            </a:lvl9pPr>
          </a:lstStyle>
          <a:p>
            <a:endParaRPr/>
          </a:p>
        </p:txBody>
      </p:sp>
      <p:sp>
        <p:nvSpPr>
          <p:cNvPr id="25" name="Google Shape;25;g83372e3e9c_1_3131"/>
          <p:cNvSpPr txBox="1">
            <a:spLocks noGrp="1"/>
          </p:cNvSpPr>
          <p:nvPr>
            <p:ph type="subTitle" idx="1"/>
          </p:nvPr>
        </p:nvSpPr>
        <p:spPr>
          <a:xfrm>
            <a:off x="1680302" y="3049450"/>
            <a:ext cx="5783400" cy="909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26" name="Google Shape;26;g83372e3e9c_1_31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7"/>
        <p:cNvGrpSpPr/>
        <p:nvPr/>
      </p:nvGrpSpPr>
      <p:grpSpPr>
        <a:xfrm>
          <a:off x="0" y="0"/>
          <a:ext cx="0" cy="0"/>
          <a:chOff x="0" y="0"/>
          <a:chExt cx="0" cy="0"/>
        </a:xfrm>
      </p:grpSpPr>
      <p:cxnSp>
        <p:nvCxnSpPr>
          <p:cNvPr id="28" name="Google Shape;28;g83372e3e9c_1_3142"/>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9" name="Google Shape;29;g83372e3e9c_1_3142"/>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0" name="Google Shape;30;g83372e3e9c_1_3142"/>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31" name="Google Shape;31;g83372e3e9c_1_31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2"/>
        <p:cNvGrpSpPr/>
        <p:nvPr/>
      </p:nvGrpSpPr>
      <p:grpSpPr>
        <a:xfrm>
          <a:off x="0" y="0"/>
          <a:ext cx="0" cy="0"/>
          <a:chOff x="0" y="0"/>
          <a:chExt cx="0" cy="0"/>
        </a:xfrm>
      </p:grpSpPr>
      <p:cxnSp>
        <p:nvCxnSpPr>
          <p:cNvPr id="33" name="Google Shape;33;g83372e3e9c_1_3147"/>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34" name="Google Shape;34;g83372e3e9c_1_3147"/>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5" name="Google Shape;35;g83372e3e9c_1_3147"/>
          <p:cNvSpPr txBox="1">
            <a:spLocks noGrp="1"/>
          </p:cNvSpPr>
          <p:nvPr>
            <p:ph type="body" idx="1"/>
          </p:nvPr>
        </p:nvSpPr>
        <p:spPr>
          <a:xfrm>
            <a:off x="387900" y="1489825"/>
            <a:ext cx="3999900" cy="30789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6" name="Google Shape;36;g83372e3e9c_1_3147"/>
          <p:cNvSpPr txBox="1">
            <a:spLocks noGrp="1"/>
          </p:cNvSpPr>
          <p:nvPr>
            <p:ph type="body" idx="2"/>
          </p:nvPr>
        </p:nvSpPr>
        <p:spPr>
          <a:xfrm>
            <a:off x="4756200" y="1489825"/>
            <a:ext cx="3999900" cy="30789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7" name="Google Shape;37;g83372e3e9c_1_31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g83372e3e9c_1_3153"/>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40" name="Google Shape;40;g83372e3e9c_1_31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1"/>
        <p:cNvGrpSpPr/>
        <p:nvPr/>
      </p:nvGrpSpPr>
      <p:grpSpPr>
        <a:xfrm>
          <a:off x="0" y="0"/>
          <a:ext cx="0" cy="0"/>
          <a:chOff x="0" y="0"/>
          <a:chExt cx="0" cy="0"/>
        </a:xfrm>
      </p:grpSpPr>
      <p:cxnSp>
        <p:nvCxnSpPr>
          <p:cNvPr id="42" name="Google Shape;42;g83372e3e9c_1_3156"/>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43" name="Google Shape;43;g83372e3e9c_1_3156"/>
          <p:cNvSpPr txBox="1">
            <a:spLocks noGrp="1"/>
          </p:cNvSpPr>
          <p:nvPr>
            <p:ph type="title"/>
          </p:nvPr>
        </p:nvSpPr>
        <p:spPr>
          <a:xfrm>
            <a:off x="3879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g83372e3e9c_1_3156"/>
          <p:cNvSpPr txBox="1">
            <a:spLocks noGrp="1"/>
          </p:cNvSpPr>
          <p:nvPr>
            <p:ph type="body" idx="1"/>
          </p:nvPr>
        </p:nvSpPr>
        <p:spPr>
          <a:xfrm>
            <a:off x="387900" y="1594025"/>
            <a:ext cx="2808000" cy="26811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45" name="Google Shape;45;g83372e3e9c_1_315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g83372e3e9c_1_3161"/>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g83372e3e9c_1_31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g83372e3e9c_1_3164"/>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g83372e3e9c_1_3164"/>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52" name="Google Shape;52;g83372e3e9c_1_3164"/>
          <p:cNvSpPr txBox="1">
            <a:spLocks noGrp="1"/>
          </p:cNvSpPr>
          <p:nvPr>
            <p:ph type="title"/>
          </p:nvPr>
        </p:nvSpPr>
        <p:spPr>
          <a:xfrm>
            <a:off x="265500" y="1209075"/>
            <a:ext cx="4045200" cy="1506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a:endParaRPr/>
          </a:p>
        </p:txBody>
      </p:sp>
      <p:sp>
        <p:nvSpPr>
          <p:cNvPr id="53" name="Google Shape;53;g83372e3e9c_1_3164"/>
          <p:cNvSpPr txBox="1">
            <a:spLocks noGrp="1"/>
          </p:cNvSpPr>
          <p:nvPr>
            <p:ph type="subTitle" idx="1"/>
          </p:nvPr>
        </p:nvSpPr>
        <p:spPr>
          <a:xfrm>
            <a:off x="265500" y="2769001"/>
            <a:ext cx="4045200" cy="1345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54" name="Google Shape;54;g83372e3e9c_1_3164"/>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55" name="Google Shape;55;g83372e3e9c_1_316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6"/>
        <p:cNvGrpSpPr/>
        <p:nvPr/>
      </p:nvGrpSpPr>
      <p:grpSpPr>
        <a:xfrm>
          <a:off x="0" y="0"/>
          <a:ext cx="0" cy="0"/>
          <a:chOff x="0" y="0"/>
          <a:chExt cx="0" cy="0"/>
        </a:xfrm>
      </p:grpSpPr>
      <p:sp>
        <p:nvSpPr>
          <p:cNvPr id="57" name="Google Shape;57;g83372e3e9c_1_3171"/>
          <p:cNvSpPr txBox="1">
            <a:spLocks noGrp="1"/>
          </p:cNvSpPr>
          <p:nvPr>
            <p:ph type="body" idx="1"/>
          </p:nvPr>
        </p:nvSpPr>
        <p:spPr>
          <a:xfrm>
            <a:off x="319500" y="4233725"/>
            <a:ext cx="5998800" cy="5988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8" name="Google Shape;58;g83372e3e9c_1_317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g83372e3e9c_1_3127"/>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3000"/>
              <a:buFont typeface="Roboto Slab"/>
              <a:buNone/>
              <a:defRPr sz="3000" b="0" i="0" u="none" strike="noStrike" cap="none">
                <a:solidFill>
                  <a:schemeClr val="dk1"/>
                </a:solidFill>
                <a:latin typeface="Roboto Slab"/>
                <a:ea typeface="Roboto Slab"/>
                <a:cs typeface="Roboto Slab"/>
                <a:sym typeface="Roboto Slab"/>
              </a:defRPr>
            </a:lvl1pPr>
            <a:lvl2pPr marR="0" lvl="1" algn="l" rtl="0">
              <a:lnSpc>
                <a:spcPct val="100000"/>
              </a:lnSpc>
              <a:spcBef>
                <a:spcPts val="0"/>
              </a:spcBef>
              <a:spcAft>
                <a:spcPts val="0"/>
              </a:spcAft>
              <a:buClr>
                <a:schemeClr val="dk1"/>
              </a:buClr>
              <a:buSzPts val="3000"/>
              <a:buFont typeface="Roboto Slab"/>
              <a:buNone/>
              <a:defRPr sz="3000" b="0" i="0" u="none" strike="noStrike" cap="none">
                <a:solidFill>
                  <a:schemeClr val="dk1"/>
                </a:solidFill>
                <a:latin typeface="Roboto Slab"/>
                <a:ea typeface="Roboto Slab"/>
                <a:cs typeface="Roboto Slab"/>
                <a:sym typeface="Roboto Slab"/>
              </a:defRPr>
            </a:lvl2pPr>
            <a:lvl3pPr marR="0" lvl="2" algn="l" rtl="0">
              <a:lnSpc>
                <a:spcPct val="100000"/>
              </a:lnSpc>
              <a:spcBef>
                <a:spcPts val="0"/>
              </a:spcBef>
              <a:spcAft>
                <a:spcPts val="0"/>
              </a:spcAft>
              <a:buClr>
                <a:schemeClr val="dk1"/>
              </a:buClr>
              <a:buSzPts val="3000"/>
              <a:buFont typeface="Roboto Slab"/>
              <a:buNone/>
              <a:defRPr sz="3000" b="0" i="0" u="none" strike="noStrike" cap="none">
                <a:solidFill>
                  <a:schemeClr val="dk1"/>
                </a:solidFill>
                <a:latin typeface="Roboto Slab"/>
                <a:ea typeface="Roboto Slab"/>
                <a:cs typeface="Roboto Slab"/>
                <a:sym typeface="Roboto Slab"/>
              </a:defRPr>
            </a:lvl3pPr>
            <a:lvl4pPr marR="0" lvl="3" algn="l" rtl="0">
              <a:lnSpc>
                <a:spcPct val="100000"/>
              </a:lnSpc>
              <a:spcBef>
                <a:spcPts val="0"/>
              </a:spcBef>
              <a:spcAft>
                <a:spcPts val="0"/>
              </a:spcAft>
              <a:buClr>
                <a:schemeClr val="dk1"/>
              </a:buClr>
              <a:buSzPts val="3000"/>
              <a:buFont typeface="Roboto Slab"/>
              <a:buNone/>
              <a:defRPr sz="3000" b="0" i="0" u="none" strike="noStrike" cap="none">
                <a:solidFill>
                  <a:schemeClr val="dk1"/>
                </a:solidFill>
                <a:latin typeface="Roboto Slab"/>
                <a:ea typeface="Roboto Slab"/>
                <a:cs typeface="Roboto Slab"/>
                <a:sym typeface="Roboto Slab"/>
              </a:defRPr>
            </a:lvl4pPr>
            <a:lvl5pPr marR="0" lvl="4" algn="l" rtl="0">
              <a:lnSpc>
                <a:spcPct val="100000"/>
              </a:lnSpc>
              <a:spcBef>
                <a:spcPts val="0"/>
              </a:spcBef>
              <a:spcAft>
                <a:spcPts val="0"/>
              </a:spcAft>
              <a:buClr>
                <a:schemeClr val="dk1"/>
              </a:buClr>
              <a:buSzPts val="3000"/>
              <a:buFont typeface="Roboto Slab"/>
              <a:buNone/>
              <a:defRPr sz="3000" b="0" i="0" u="none" strike="noStrike" cap="none">
                <a:solidFill>
                  <a:schemeClr val="dk1"/>
                </a:solidFill>
                <a:latin typeface="Roboto Slab"/>
                <a:ea typeface="Roboto Slab"/>
                <a:cs typeface="Roboto Slab"/>
                <a:sym typeface="Roboto Slab"/>
              </a:defRPr>
            </a:lvl5pPr>
            <a:lvl6pPr marR="0" lvl="5" algn="l" rtl="0">
              <a:lnSpc>
                <a:spcPct val="100000"/>
              </a:lnSpc>
              <a:spcBef>
                <a:spcPts val="0"/>
              </a:spcBef>
              <a:spcAft>
                <a:spcPts val="0"/>
              </a:spcAft>
              <a:buClr>
                <a:schemeClr val="dk1"/>
              </a:buClr>
              <a:buSzPts val="3000"/>
              <a:buFont typeface="Roboto Slab"/>
              <a:buNone/>
              <a:defRPr sz="3000" b="0" i="0" u="none" strike="noStrike" cap="none">
                <a:solidFill>
                  <a:schemeClr val="dk1"/>
                </a:solidFill>
                <a:latin typeface="Roboto Slab"/>
                <a:ea typeface="Roboto Slab"/>
                <a:cs typeface="Roboto Slab"/>
                <a:sym typeface="Roboto Slab"/>
              </a:defRPr>
            </a:lvl6pPr>
            <a:lvl7pPr marR="0" lvl="6" algn="l" rtl="0">
              <a:lnSpc>
                <a:spcPct val="100000"/>
              </a:lnSpc>
              <a:spcBef>
                <a:spcPts val="0"/>
              </a:spcBef>
              <a:spcAft>
                <a:spcPts val="0"/>
              </a:spcAft>
              <a:buClr>
                <a:schemeClr val="dk1"/>
              </a:buClr>
              <a:buSzPts val="3000"/>
              <a:buFont typeface="Roboto Slab"/>
              <a:buNone/>
              <a:defRPr sz="3000" b="0" i="0" u="none" strike="noStrike" cap="none">
                <a:solidFill>
                  <a:schemeClr val="dk1"/>
                </a:solidFill>
                <a:latin typeface="Roboto Slab"/>
                <a:ea typeface="Roboto Slab"/>
                <a:cs typeface="Roboto Slab"/>
                <a:sym typeface="Roboto Slab"/>
              </a:defRPr>
            </a:lvl7pPr>
            <a:lvl8pPr marR="0" lvl="7" algn="l" rtl="0">
              <a:lnSpc>
                <a:spcPct val="100000"/>
              </a:lnSpc>
              <a:spcBef>
                <a:spcPts val="0"/>
              </a:spcBef>
              <a:spcAft>
                <a:spcPts val="0"/>
              </a:spcAft>
              <a:buClr>
                <a:schemeClr val="dk1"/>
              </a:buClr>
              <a:buSzPts val="3000"/>
              <a:buFont typeface="Roboto Slab"/>
              <a:buNone/>
              <a:defRPr sz="3000" b="0" i="0" u="none" strike="noStrike" cap="none">
                <a:solidFill>
                  <a:schemeClr val="dk1"/>
                </a:solidFill>
                <a:latin typeface="Roboto Slab"/>
                <a:ea typeface="Roboto Slab"/>
                <a:cs typeface="Roboto Slab"/>
                <a:sym typeface="Roboto Slab"/>
              </a:defRPr>
            </a:lvl8pPr>
            <a:lvl9pPr marR="0" lvl="8" algn="l" rtl="0">
              <a:lnSpc>
                <a:spcPct val="100000"/>
              </a:lnSpc>
              <a:spcBef>
                <a:spcPts val="0"/>
              </a:spcBef>
              <a:spcAft>
                <a:spcPts val="0"/>
              </a:spcAft>
              <a:buClr>
                <a:schemeClr val="dk1"/>
              </a:buClr>
              <a:buSzPts val="3000"/>
              <a:buFont typeface="Roboto Slab"/>
              <a:buNone/>
              <a:defRPr sz="3000" b="0" i="0" u="none" strike="noStrike" cap="none">
                <a:solidFill>
                  <a:schemeClr val="dk1"/>
                </a:solidFill>
                <a:latin typeface="Roboto Slab"/>
                <a:ea typeface="Roboto Slab"/>
                <a:cs typeface="Roboto Slab"/>
                <a:sym typeface="Roboto Slab"/>
              </a:defRPr>
            </a:lvl9pPr>
          </a:lstStyle>
          <a:p>
            <a:endParaRPr/>
          </a:p>
        </p:txBody>
      </p:sp>
      <p:sp>
        <p:nvSpPr>
          <p:cNvPr id="7" name="Google Shape;7;g83372e3e9c_1_3127"/>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1pPr>
            <a:lvl2pPr marL="914400" marR="0" lvl="1" indent="-317500" algn="l" rtl="0">
              <a:lnSpc>
                <a:spcPct val="115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2pPr>
            <a:lvl3pPr marL="1371600" marR="0" lvl="2" indent="-317500" algn="l" rtl="0">
              <a:lnSpc>
                <a:spcPct val="115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3pPr>
            <a:lvl4pPr marL="1828800" marR="0" lvl="3" indent="-317500" algn="l" rtl="0">
              <a:lnSpc>
                <a:spcPct val="115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4pPr>
            <a:lvl5pPr marL="2286000" marR="0" lvl="4" indent="-317500" algn="l" rtl="0">
              <a:lnSpc>
                <a:spcPct val="115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5pPr>
            <a:lvl6pPr marL="2743200" marR="0" lvl="5" indent="-317500" algn="l" rtl="0">
              <a:lnSpc>
                <a:spcPct val="115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6pPr>
            <a:lvl7pPr marL="3200400" marR="0" lvl="6" indent="-317500" algn="l" rtl="0">
              <a:lnSpc>
                <a:spcPct val="115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7pPr>
            <a:lvl8pPr marL="3657600" marR="0" lvl="7" indent="-317500" algn="l" rtl="0">
              <a:lnSpc>
                <a:spcPct val="115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8pPr>
            <a:lvl9pPr marL="4114800" marR="0" lvl="8" indent="-317500" algn="l" rtl="0">
              <a:lnSpc>
                <a:spcPct val="115000"/>
              </a:lnSpc>
              <a:spcBef>
                <a:spcPts val="1600"/>
              </a:spcBef>
              <a:spcAft>
                <a:spcPts val="1600"/>
              </a:spcAft>
              <a:buClr>
                <a:schemeClr val="dk1"/>
              </a:buClr>
              <a:buSzPts val="1400"/>
              <a:buFont typeface="Roboto"/>
              <a:buChar char="■"/>
              <a:defRPr sz="1400" b="0" i="0" u="none" strike="noStrike" cap="none">
                <a:solidFill>
                  <a:schemeClr val="dk1"/>
                </a:solidFill>
                <a:latin typeface="Roboto"/>
                <a:ea typeface="Roboto"/>
                <a:cs typeface="Roboto"/>
                <a:sym typeface="Roboto"/>
              </a:defRPr>
            </a:lvl9pPr>
          </a:lstStyle>
          <a:p>
            <a:endParaRPr/>
          </a:p>
        </p:txBody>
      </p:sp>
      <p:sp>
        <p:nvSpPr>
          <p:cNvPr id="8" name="Google Shape;8;g83372e3e9c_1_31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hyperlink" Target="https://drive.google.com/file/d/1XCHoIsOatx0IBEaOGEWw7UrR8Qm7vXTk/view?usp=drive_link"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2"/>
        <p:cNvGrpSpPr/>
        <p:nvPr/>
      </p:nvGrpSpPr>
      <p:grpSpPr>
        <a:xfrm>
          <a:off x="0" y="0"/>
          <a:ext cx="0" cy="0"/>
          <a:chOff x="0" y="0"/>
          <a:chExt cx="0" cy="0"/>
        </a:xfrm>
      </p:grpSpPr>
      <p:sp>
        <p:nvSpPr>
          <p:cNvPr id="63" name="Google Shape;63;p1"/>
          <p:cNvSpPr txBox="1">
            <a:spLocks noGrp="1"/>
          </p:cNvSpPr>
          <p:nvPr>
            <p:ph type="body" idx="4294967295"/>
          </p:nvPr>
        </p:nvSpPr>
        <p:spPr>
          <a:xfrm>
            <a:off x="182500" y="462800"/>
            <a:ext cx="8603990" cy="852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400"/>
              <a:buNone/>
            </a:pPr>
            <a:r>
              <a:rPr lang="en" sz="3000" dirty="0"/>
              <a:t> </a:t>
            </a:r>
            <a:r>
              <a:rPr lang="en-US" sz="2500" dirty="0"/>
              <a:t>TermSheetAI : Validator Tool for </a:t>
            </a:r>
            <a:r>
              <a:rPr lang="en-US" sz="2500" dirty="0" err="1"/>
              <a:t>Termsheets</a:t>
            </a:r>
            <a:r>
              <a:rPr lang="en-US" sz="2500" dirty="0"/>
              <a:t> Validation</a:t>
            </a:r>
            <a:endParaRPr sz="2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1141"/>
        </a:solidFill>
        <a:effectLst/>
      </p:bgPr>
    </p:bg>
    <p:spTree>
      <p:nvGrpSpPr>
        <p:cNvPr id="1" name="Shape 68"/>
        <p:cNvGrpSpPr/>
        <p:nvPr/>
      </p:nvGrpSpPr>
      <p:grpSpPr>
        <a:xfrm>
          <a:off x="0" y="0"/>
          <a:ext cx="0" cy="0"/>
          <a:chOff x="0" y="0"/>
          <a:chExt cx="0" cy="0"/>
        </a:xfrm>
      </p:grpSpPr>
      <p:sp>
        <p:nvSpPr>
          <p:cNvPr id="69" name="Google Shape;69;p2"/>
          <p:cNvSpPr txBox="1">
            <a:spLocks noGrp="1"/>
          </p:cNvSpPr>
          <p:nvPr>
            <p:ph type="title"/>
          </p:nvPr>
        </p:nvSpPr>
        <p:spPr>
          <a:xfrm>
            <a:off x="0" y="710400"/>
            <a:ext cx="7364700" cy="620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0"/>
              <a:buNone/>
            </a:pPr>
            <a:r>
              <a:rPr lang="en" sz="3000" dirty="0">
                <a:solidFill>
                  <a:srgbClr val="0098FF"/>
                </a:solidFill>
              </a:rPr>
              <a:t>     MEMBER DETAILS</a:t>
            </a:r>
            <a:endParaRPr sz="3000" dirty="0">
              <a:solidFill>
                <a:srgbClr val="0098FF"/>
              </a:solidFill>
            </a:endParaRPr>
          </a:p>
        </p:txBody>
      </p:sp>
      <p:sp>
        <p:nvSpPr>
          <p:cNvPr id="70" name="Google Shape;70;p2"/>
          <p:cNvSpPr txBox="1">
            <a:spLocks noGrp="1"/>
          </p:cNvSpPr>
          <p:nvPr>
            <p:ph type="body" idx="1"/>
          </p:nvPr>
        </p:nvSpPr>
        <p:spPr>
          <a:xfrm>
            <a:off x="612650" y="1525100"/>
            <a:ext cx="5960030" cy="1071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SzPts val="1800"/>
              <a:buNone/>
            </a:pPr>
            <a:r>
              <a:rPr lang="en" sz="1600" i="1" dirty="0">
                <a:latin typeface="+mn-lt"/>
              </a:rPr>
              <a:t>Sarthak Rastogi(RA2311026010862)</a:t>
            </a:r>
            <a:br>
              <a:rPr lang="en" sz="1600" i="1" dirty="0">
                <a:latin typeface="+mn-lt"/>
              </a:rPr>
            </a:br>
            <a:r>
              <a:rPr lang="en" sz="1600" i="1" dirty="0">
                <a:latin typeface="+mn-lt"/>
              </a:rPr>
              <a:t>Reswant Raja S(RA2311026010835)</a:t>
            </a:r>
            <a:br>
              <a:rPr lang="en" sz="1600" i="1" dirty="0">
                <a:latin typeface="+mn-lt"/>
              </a:rPr>
            </a:br>
            <a:r>
              <a:rPr lang="en" sz="1600" i="1" dirty="0">
                <a:latin typeface="+mn-lt"/>
              </a:rPr>
              <a:t>Mohammad Sufyan(RA231102601858)</a:t>
            </a:r>
            <a:endParaRPr sz="1600" i="1" dirty="0">
              <a:latin typeface="+mn-lt"/>
            </a:endParaRPr>
          </a:p>
        </p:txBody>
      </p:sp>
      <p:sp>
        <p:nvSpPr>
          <p:cNvPr id="71" name="Google Shape;71;p2"/>
          <p:cNvSpPr txBox="1">
            <a:spLocks noGrp="1"/>
          </p:cNvSpPr>
          <p:nvPr>
            <p:ph type="body" idx="1"/>
          </p:nvPr>
        </p:nvSpPr>
        <p:spPr>
          <a:xfrm>
            <a:off x="357462" y="3449200"/>
            <a:ext cx="8368200" cy="1071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SzPts val="1800"/>
              <a:buNone/>
            </a:pPr>
            <a:r>
              <a:rPr lang="en" sz="3000">
                <a:solidFill>
                  <a:srgbClr val="0098FF"/>
                </a:solidFill>
              </a:rPr>
              <a:t>THEME:</a:t>
            </a:r>
            <a:endParaRPr sz="3000">
              <a:solidFill>
                <a:srgbClr val="0098FF"/>
              </a:solidFill>
            </a:endParaRPr>
          </a:p>
        </p:txBody>
      </p:sp>
      <p:sp>
        <p:nvSpPr>
          <p:cNvPr id="72" name="Google Shape;72;p2"/>
          <p:cNvSpPr txBox="1">
            <a:spLocks noGrp="1"/>
          </p:cNvSpPr>
          <p:nvPr>
            <p:ph type="body" idx="1"/>
          </p:nvPr>
        </p:nvSpPr>
        <p:spPr>
          <a:xfrm>
            <a:off x="2002800" y="3449200"/>
            <a:ext cx="6796200" cy="1071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SzPts val="1800"/>
              <a:buNone/>
            </a:pPr>
            <a:r>
              <a:rPr lang="en" sz="2400" i="1" dirty="0">
                <a:solidFill>
                  <a:srgbClr val="0075C4"/>
                </a:solidFill>
              </a:rPr>
              <a:t> </a:t>
            </a:r>
            <a:r>
              <a:rPr lang="en-US" sz="3000" dirty="0">
                <a:latin typeface="+mn-lt"/>
              </a:rPr>
              <a:t>TERM SHEET VALIDATOR USING AI</a:t>
            </a:r>
            <a:endParaRPr sz="3000" i="1" dirty="0">
              <a:latin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1141"/>
        </a:solidFill>
        <a:effectLst/>
      </p:bgPr>
    </p:bg>
    <p:spTree>
      <p:nvGrpSpPr>
        <p:cNvPr id="1" name="Shape 77"/>
        <p:cNvGrpSpPr/>
        <p:nvPr/>
      </p:nvGrpSpPr>
      <p:grpSpPr>
        <a:xfrm>
          <a:off x="0" y="0"/>
          <a:ext cx="0" cy="0"/>
          <a:chOff x="0" y="0"/>
          <a:chExt cx="0" cy="0"/>
        </a:xfrm>
      </p:grpSpPr>
      <p:sp>
        <p:nvSpPr>
          <p:cNvPr id="78" name="Google Shape;78;p3"/>
          <p:cNvSpPr txBox="1">
            <a:spLocks noGrp="1"/>
          </p:cNvSpPr>
          <p:nvPr>
            <p:ph type="title"/>
          </p:nvPr>
        </p:nvSpPr>
        <p:spPr>
          <a:xfrm>
            <a:off x="226900" y="253575"/>
            <a:ext cx="8368200" cy="153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0"/>
              <a:buNone/>
            </a:pPr>
            <a:r>
              <a:rPr lang="en" sz="3000" dirty="0">
                <a:solidFill>
                  <a:srgbClr val="0098FF"/>
                </a:solidFill>
                <a:latin typeface="Arial"/>
                <a:ea typeface="Arial"/>
                <a:cs typeface="Arial"/>
                <a:sym typeface="Arial"/>
              </a:rPr>
              <a:t>PROBLEM STATEMENT</a:t>
            </a:r>
            <a:endParaRPr sz="3000" dirty="0">
              <a:solidFill>
                <a:srgbClr val="0098FF"/>
              </a:solidFill>
            </a:endParaRPr>
          </a:p>
        </p:txBody>
      </p:sp>
      <p:sp>
        <p:nvSpPr>
          <p:cNvPr id="79" name="Google Shape;79;p3"/>
          <p:cNvSpPr txBox="1">
            <a:spLocks noGrp="1"/>
          </p:cNvSpPr>
          <p:nvPr>
            <p:ph type="body" idx="1"/>
          </p:nvPr>
        </p:nvSpPr>
        <p:spPr>
          <a:xfrm>
            <a:off x="357462" y="1791975"/>
            <a:ext cx="8368200" cy="1071600"/>
          </a:xfrm>
          <a:prstGeom prst="rect">
            <a:avLst/>
          </a:prstGeom>
          <a:noFill/>
          <a:ln>
            <a:noFill/>
          </a:ln>
        </p:spPr>
        <p:txBody>
          <a:bodyPr spcFirstLastPara="1" wrap="square" lIns="91425" tIns="91425" rIns="91425" bIns="91425" anchor="t" anchorCtr="0">
            <a:noAutofit/>
          </a:bodyPr>
          <a:lstStyle/>
          <a:p>
            <a:pPr marL="0" indent="0" algn="just">
              <a:spcAft>
                <a:spcPts val="1600"/>
              </a:spcAft>
              <a:buNone/>
            </a:pPr>
            <a:r>
              <a:rPr lang="en-US" sz="1600" dirty="0">
                <a:solidFill>
                  <a:schemeClr val="tx1"/>
                </a:solidFill>
                <a:latin typeface="+mn-lt"/>
              </a:rPr>
              <a:t>The manual validation of term sheets in post-trade processes is time-consuming, error-prone, and resource-intensive, leading to delays, inaccuracies, and regulatory compliance risks. The Term Sheet Validator using AI project aims to automate data extraction and validation from unstructured and structured term sheets using OCR, NLP, and ML, enhancing efficiency, accuracy, and compliance.</a:t>
            </a:r>
          </a:p>
          <a:p>
            <a:pPr marL="0" lvl="0" indent="0" algn="ctr" rtl="0">
              <a:lnSpc>
                <a:spcPct val="115000"/>
              </a:lnSpc>
              <a:spcBef>
                <a:spcPts val="0"/>
              </a:spcBef>
              <a:spcAft>
                <a:spcPts val="1600"/>
              </a:spcAft>
              <a:buSzPts val="1800"/>
              <a:buNone/>
            </a:pPr>
            <a:endParaRPr i="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1141"/>
        </a:solidFill>
        <a:effectLst/>
      </p:bgPr>
    </p:bg>
    <p:spTree>
      <p:nvGrpSpPr>
        <p:cNvPr id="1" name="Shape 84"/>
        <p:cNvGrpSpPr/>
        <p:nvPr/>
      </p:nvGrpSpPr>
      <p:grpSpPr>
        <a:xfrm>
          <a:off x="0" y="0"/>
          <a:ext cx="0" cy="0"/>
          <a:chOff x="0" y="0"/>
          <a:chExt cx="0" cy="0"/>
        </a:xfrm>
      </p:grpSpPr>
      <p:sp>
        <p:nvSpPr>
          <p:cNvPr id="85" name="Google Shape;85;p4"/>
          <p:cNvSpPr txBox="1">
            <a:spLocks noGrp="1"/>
          </p:cNvSpPr>
          <p:nvPr>
            <p:ph type="title"/>
          </p:nvPr>
        </p:nvSpPr>
        <p:spPr>
          <a:xfrm>
            <a:off x="121625" y="-89931"/>
            <a:ext cx="8368200" cy="153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0"/>
              <a:buNone/>
            </a:pPr>
            <a:r>
              <a:rPr lang="en" sz="3000" dirty="0">
                <a:solidFill>
                  <a:srgbClr val="0098FF"/>
                </a:solidFill>
                <a:latin typeface="Arial"/>
                <a:ea typeface="Arial"/>
                <a:cs typeface="Arial"/>
                <a:sym typeface="Arial"/>
              </a:rPr>
              <a:t>SOLUTION</a:t>
            </a:r>
            <a:endParaRPr dirty="0">
              <a:solidFill>
                <a:srgbClr val="0098FF"/>
              </a:solidFill>
            </a:endParaRPr>
          </a:p>
        </p:txBody>
      </p:sp>
      <p:sp>
        <p:nvSpPr>
          <p:cNvPr id="86" name="Google Shape;86;p4"/>
          <p:cNvSpPr txBox="1">
            <a:spLocks noGrp="1"/>
          </p:cNvSpPr>
          <p:nvPr>
            <p:ph type="body" idx="1"/>
          </p:nvPr>
        </p:nvSpPr>
        <p:spPr>
          <a:xfrm>
            <a:off x="189991" y="1224920"/>
            <a:ext cx="8368200" cy="3319500"/>
          </a:xfrm>
          <a:prstGeom prst="rect">
            <a:avLst/>
          </a:prstGeom>
          <a:noFill/>
          <a:ln>
            <a:noFill/>
          </a:ln>
        </p:spPr>
        <p:txBody>
          <a:bodyPr spcFirstLastPara="1" wrap="square" lIns="91425" tIns="91425" rIns="91425" bIns="91425" anchor="t" anchorCtr="0">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IN" sz="1600" dirty="0">
                <a:solidFill>
                  <a:schemeClr val="tx1"/>
                </a:solidFill>
                <a:latin typeface="+mn-lt"/>
              </a:rPr>
              <a:t>AI-powered document validation leverages OCR and NLP for accurate text extraction and compliance checks. Blockchain ensures smart contract traceability, while ML models detect risks and anomalies for predictive validation. A template-based system maintains data consistency, and a real-time API enables instant verification. AI automates routine tasks, escalating complex cases to experts (HITL). Continuous learning refines validation rules, and multimodal AI processes text, tables, and images for comprehensive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Sabon Next LT (Body)"/>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Sabon Next LT (Body)"/>
            </a:endParaRPr>
          </a:p>
          <a:p>
            <a:pPr marL="457200" lvl="0" indent="-342900" algn="ctr" rtl="0">
              <a:lnSpc>
                <a:spcPct val="115000"/>
              </a:lnSpc>
              <a:spcBef>
                <a:spcPts val="0"/>
              </a:spcBef>
              <a:spcAft>
                <a:spcPts val="0"/>
              </a:spcAft>
              <a:buSzPts val="1800"/>
              <a:buFont typeface="Arial"/>
              <a:buChar char="●"/>
            </a:pPr>
            <a:endParaRPr i="1" dirty="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1141"/>
        </a:solidFill>
        <a:effectLst/>
      </p:bgPr>
    </p:bg>
    <p:spTree>
      <p:nvGrpSpPr>
        <p:cNvPr id="1" name="Shape 84">
          <a:extLst>
            <a:ext uri="{FF2B5EF4-FFF2-40B4-BE49-F238E27FC236}">
              <a16:creationId xmlns:a16="http://schemas.microsoft.com/office/drawing/2014/main" id="{37EA9568-2FE5-FFB8-E62C-B0E48CBBA656}"/>
            </a:ext>
          </a:extLst>
        </p:cNvPr>
        <p:cNvGrpSpPr/>
        <p:nvPr/>
      </p:nvGrpSpPr>
      <p:grpSpPr>
        <a:xfrm>
          <a:off x="0" y="0"/>
          <a:ext cx="0" cy="0"/>
          <a:chOff x="0" y="0"/>
          <a:chExt cx="0" cy="0"/>
        </a:xfrm>
      </p:grpSpPr>
      <p:sp>
        <p:nvSpPr>
          <p:cNvPr id="85" name="Google Shape;85;p4">
            <a:extLst>
              <a:ext uri="{FF2B5EF4-FFF2-40B4-BE49-F238E27FC236}">
                <a16:creationId xmlns:a16="http://schemas.microsoft.com/office/drawing/2014/main" id="{9E07C249-F7CD-63E9-C223-56AE3530E9AD}"/>
              </a:ext>
            </a:extLst>
          </p:cNvPr>
          <p:cNvSpPr txBox="1">
            <a:spLocks noGrp="1"/>
          </p:cNvSpPr>
          <p:nvPr>
            <p:ph type="title"/>
          </p:nvPr>
        </p:nvSpPr>
        <p:spPr>
          <a:xfrm>
            <a:off x="121625" y="-89931"/>
            <a:ext cx="8368200" cy="153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0"/>
              <a:buNone/>
            </a:pPr>
            <a:r>
              <a:rPr lang="en" sz="3000" dirty="0">
                <a:solidFill>
                  <a:srgbClr val="0098FF"/>
                </a:solidFill>
                <a:latin typeface="Arial"/>
                <a:ea typeface="Arial"/>
                <a:cs typeface="Arial"/>
                <a:sym typeface="Arial"/>
              </a:rPr>
              <a:t>SOLUTION</a:t>
            </a:r>
            <a:endParaRPr dirty="0">
              <a:solidFill>
                <a:srgbClr val="0098FF"/>
              </a:solidFill>
            </a:endParaRPr>
          </a:p>
        </p:txBody>
      </p:sp>
      <p:sp>
        <p:nvSpPr>
          <p:cNvPr id="86" name="Google Shape;86;p4">
            <a:extLst>
              <a:ext uri="{FF2B5EF4-FFF2-40B4-BE49-F238E27FC236}">
                <a16:creationId xmlns:a16="http://schemas.microsoft.com/office/drawing/2014/main" id="{8C2BA87F-B61A-A22B-608E-C3D972383A78}"/>
              </a:ext>
            </a:extLst>
          </p:cNvPr>
          <p:cNvSpPr txBox="1">
            <a:spLocks noGrp="1"/>
          </p:cNvSpPr>
          <p:nvPr>
            <p:ph type="body" idx="1"/>
          </p:nvPr>
        </p:nvSpPr>
        <p:spPr>
          <a:xfrm>
            <a:off x="189991" y="1224920"/>
            <a:ext cx="8368200" cy="3319500"/>
          </a:xfrm>
          <a:prstGeom prst="rect">
            <a:avLst/>
          </a:prstGeom>
          <a:noFill/>
          <a:ln>
            <a:noFill/>
          </a:ln>
        </p:spPr>
        <p:txBody>
          <a:bodyPr spcFirstLastPara="1" wrap="square" lIns="91425" tIns="91425" rIns="91425" bIns="91425" anchor="t" anchorCtr="0">
            <a:noAutofit/>
          </a:bodyPr>
          <a:lstStyle/>
          <a:p>
            <a:pPr marL="0" indent="0" algn="l" eaLnBrk="0" fontAlgn="base" hangingPunct="0">
              <a:lnSpc>
                <a:spcPct val="100000"/>
              </a:lnSpc>
              <a:spcBef>
                <a:spcPct val="0"/>
              </a:spcBef>
              <a:spcAft>
                <a:spcPct val="0"/>
              </a:spcAft>
              <a:buClrTx/>
              <a:buSzTx/>
              <a:buNone/>
            </a:pPr>
            <a:r>
              <a:rPr kumimoji="0" lang="en-US" altLang="en-US" sz="1600" b="0" i="0" u="none" strike="noStrike" cap="none" normalizeH="0" baseline="0" dirty="0">
                <a:ln>
                  <a:noFill/>
                </a:ln>
                <a:solidFill>
                  <a:schemeClr val="tx1"/>
                </a:solidFill>
                <a:effectLst/>
                <a:latin typeface="+mn-lt"/>
              </a:rPr>
              <a:t>The key solutions are as follows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1"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n-lt"/>
              </a:rPr>
              <a:t>AI-Powered Validation:</a:t>
            </a:r>
            <a:r>
              <a:rPr kumimoji="0" lang="en-US" altLang="en-US" sz="1600" b="0" i="0" u="none" strike="noStrike" cap="none" normalizeH="0" baseline="0" dirty="0">
                <a:ln>
                  <a:noFill/>
                </a:ln>
                <a:solidFill>
                  <a:schemeClr val="tx1"/>
                </a:solidFill>
                <a:effectLst/>
                <a:latin typeface="+mn-lt"/>
              </a:rPr>
              <a:t> OCR + NLP for automated extraction and compliance.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n-lt"/>
              </a:rPr>
              <a:t>Blockchain for Compliance:</a:t>
            </a:r>
            <a:r>
              <a:rPr kumimoji="0" lang="en-US" altLang="en-US" sz="1600" b="0" i="0" u="none" strike="noStrike" cap="none" normalizeH="0" baseline="0" dirty="0">
                <a:ln>
                  <a:noFill/>
                </a:ln>
                <a:solidFill>
                  <a:schemeClr val="tx1"/>
                </a:solidFill>
                <a:effectLst/>
                <a:latin typeface="+mn-lt"/>
              </a:rPr>
              <a:t> Ensures secure, traceable contract storage.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n-lt"/>
              </a:rPr>
              <a:t>Risk &amp; Anomaly Detection:</a:t>
            </a:r>
            <a:r>
              <a:rPr kumimoji="0" lang="en-US" altLang="en-US" sz="1600" b="0" i="0" u="none" strike="noStrike" cap="none" normalizeH="0" baseline="0" dirty="0">
                <a:ln>
                  <a:noFill/>
                </a:ln>
                <a:solidFill>
                  <a:schemeClr val="tx1"/>
                </a:solidFill>
                <a:effectLst/>
                <a:latin typeface="+mn-lt"/>
              </a:rPr>
              <a:t> ML models for risk classification and predictive validation.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n-lt"/>
              </a:rPr>
              <a:t>Real-Time &amp; Template-Based Validation:</a:t>
            </a:r>
            <a:r>
              <a:rPr kumimoji="0" lang="en-US" altLang="en-US" sz="1600" b="0" i="0" u="none" strike="noStrike" cap="none" normalizeH="0" baseline="0" dirty="0">
                <a:ln>
                  <a:noFill/>
                </a:ln>
                <a:solidFill>
                  <a:schemeClr val="tx1"/>
                </a:solidFill>
                <a:effectLst/>
                <a:latin typeface="+mn-lt"/>
              </a:rPr>
              <a:t> Ensures accuracy, consistency, and instant document verification.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mn-lt"/>
              </a:rPr>
              <a:t>Human-in-the-Loop (HITL) &amp; Continuous Learning:</a:t>
            </a:r>
            <a:r>
              <a:rPr kumimoji="0" lang="en-US" altLang="en-US" sz="1600" b="0" i="0" u="none" strike="noStrike" cap="none" normalizeH="0" baseline="0" dirty="0">
                <a:ln>
                  <a:noFill/>
                </a:ln>
                <a:solidFill>
                  <a:schemeClr val="tx1"/>
                </a:solidFill>
                <a:effectLst/>
                <a:latin typeface="+mn-lt"/>
              </a:rPr>
              <a:t> Experts handle complex cases while AI improves with feedback.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Sabon Next LT (Body)"/>
            </a:endParaRPr>
          </a:p>
          <a:p>
            <a:pPr marL="457200" lvl="0" indent="-342900" algn="ctr" rtl="0">
              <a:lnSpc>
                <a:spcPct val="115000"/>
              </a:lnSpc>
              <a:spcBef>
                <a:spcPts val="0"/>
              </a:spcBef>
              <a:spcAft>
                <a:spcPts val="0"/>
              </a:spcAft>
              <a:buSzPts val="1800"/>
              <a:buFont typeface="Arial"/>
              <a:buChar char="●"/>
            </a:pPr>
            <a:endParaRPr i="1" dirty="0">
              <a:latin typeface="Arial"/>
              <a:ea typeface="Arial"/>
              <a:cs typeface="Arial"/>
              <a:sym typeface="Arial"/>
            </a:endParaRPr>
          </a:p>
        </p:txBody>
      </p:sp>
    </p:spTree>
    <p:extLst>
      <p:ext uri="{BB962C8B-B14F-4D97-AF65-F5344CB8AC3E}">
        <p14:creationId xmlns:p14="http://schemas.microsoft.com/office/powerpoint/2010/main" val="2446147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1141"/>
        </a:solidFill>
        <a:effectLst/>
      </p:bgPr>
    </p:bg>
    <p:spTree>
      <p:nvGrpSpPr>
        <p:cNvPr id="1" name="Shape 91">
          <a:extLst>
            <a:ext uri="{FF2B5EF4-FFF2-40B4-BE49-F238E27FC236}">
              <a16:creationId xmlns:a16="http://schemas.microsoft.com/office/drawing/2014/main" id="{480FEF34-0055-DA1F-CCFB-91378606E56C}"/>
            </a:ext>
          </a:extLst>
        </p:cNvPr>
        <p:cNvGrpSpPr/>
        <p:nvPr/>
      </p:nvGrpSpPr>
      <p:grpSpPr>
        <a:xfrm>
          <a:off x="0" y="0"/>
          <a:ext cx="0" cy="0"/>
          <a:chOff x="0" y="0"/>
          <a:chExt cx="0" cy="0"/>
        </a:xfrm>
      </p:grpSpPr>
      <p:sp>
        <p:nvSpPr>
          <p:cNvPr id="92" name="Google Shape;92;p5">
            <a:extLst>
              <a:ext uri="{FF2B5EF4-FFF2-40B4-BE49-F238E27FC236}">
                <a16:creationId xmlns:a16="http://schemas.microsoft.com/office/drawing/2014/main" id="{59C30FAB-AD98-6333-2378-9E7EC5957B36}"/>
              </a:ext>
            </a:extLst>
          </p:cNvPr>
          <p:cNvSpPr txBox="1">
            <a:spLocks noGrp="1"/>
          </p:cNvSpPr>
          <p:nvPr>
            <p:ph type="title" idx="4294967295"/>
          </p:nvPr>
        </p:nvSpPr>
        <p:spPr>
          <a:xfrm>
            <a:off x="265500" y="-151945"/>
            <a:ext cx="4306500" cy="9804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800"/>
              <a:buNone/>
            </a:pPr>
            <a:r>
              <a:rPr lang="en" sz="2800" dirty="0">
                <a:solidFill>
                  <a:srgbClr val="0098FF"/>
                </a:solidFill>
                <a:latin typeface="Arial"/>
                <a:ea typeface="Arial"/>
                <a:cs typeface="Arial"/>
                <a:sym typeface="Arial"/>
              </a:rPr>
              <a:t>METHODOLOGY</a:t>
            </a:r>
            <a:endParaRPr sz="3000" dirty="0">
              <a:solidFill>
                <a:srgbClr val="0098FF"/>
              </a:solidFill>
            </a:endParaRPr>
          </a:p>
        </p:txBody>
      </p:sp>
      <p:sp>
        <p:nvSpPr>
          <p:cNvPr id="93" name="Google Shape;93;p5">
            <a:extLst>
              <a:ext uri="{FF2B5EF4-FFF2-40B4-BE49-F238E27FC236}">
                <a16:creationId xmlns:a16="http://schemas.microsoft.com/office/drawing/2014/main" id="{D88B185A-62CC-1D3D-C089-A639B00BCC3A}"/>
              </a:ext>
            </a:extLst>
          </p:cNvPr>
          <p:cNvSpPr txBox="1">
            <a:spLocks noGrp="1"/>
          </p:cNvSpPr>
          <p:nvPr>
            <p:ph type="body" idx="4294967295"/>
          </p:nvPr>
        </p:nvSpPr>
        <p:spPr>
          <a:xfrm>
            <a:off x="-182930" y="733934"/>
            <a:ext cx="8521500" cy="1615927"/>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SzPts val="1800"/>
              <a:buNone/>
            </a:pPr>
            <a:endParaRPr sz="2000" dirty="0">
              <a:latin typeface="Calibri"/>
              <a:ea typeface="Calibri"/>
              <a:cs typeface="Calibri"/>
              <a:sym typeface="Calibri"/>
            </a:endParaRPr>
          </a:p>
          <a:p>
            <a:pPr marL="457200" lvl="0" indent="0" rtl="0">
              <a:lnSpc>
                <a:spcPct val="115000"/>
              </a:lnSpc>
              <a:spcBef>
                <a:spcPts val="0"/>
              </a:spcBef>
              <a:spcAft>
                <a:spcPts val="0"/>
              </a:spcAft>
              <a:buSzPts val="1800"/>
              <a:buNone/>
            </a:pPr>
            <a:r>
              <a:rPr lang="en-US" sz="1600" dirty="0">
                <a:latin typeface="+mn-lt"/>
              </a:rPr>
              <a:t>Our system extracts and validates term sheet data using OCR, NLP, and ML, ensuring accuracy and compliance. It detects anomalies, provides feedback, and seamlessly integrates with financial systems, including Barclays' infrastructure, for efficient reporting.</a:t>
            </a:r>
            <a:endParaRPr sz="1600" dirty="0">
              <a:solidFill>
                <a:srgbClr val="03306C"/>
              </a:solidFill>
              <a:latin typeface="+mn-lt"/>
              <a:ea typeface="Calibri"/>
              <a:cs typeface="Calibri"/>
              <a:sym typeface="Calibri"/>
            </a:endParaRPr>
          </a:p>
        </p:txBody>
      </p:sp>
      <p:sp>
        <p:nvSpPr>
          <p:cNvPr id="95" name="Google Shape;95;p5">
            <a:extLst>
              <a:ext uri="{FF2B5EF4-FFF2-40B4-BE49-F238E27FC236}">
                <a16:creationId xmlns:a16="http://schemas.microsoft.com/office/drawing/2014/main" id="{ECEFCEA0-0E86-3874-1C57-5D5053A02B57}"/>
              </a:ext>
            </a:extLst>
          </p:cNvPr>
          <p:cNvSpPr txBox="1"/>
          <p:nvPr/>
        </p:nvSpPr>
        <p:spPr>
          <a:xfrm>
            <a:off x="158412" y="2433220"/>
            <a:ext cx="8521500" cy="2338160"/>
          </a:xfrm>
          <a:prstGeom prst="rect">
            <a:avLst/>
          </a:prstGeom>
          <a:noFill/>
          <a:ln>
            <a:noFill/>
          </a:ln>
        </p:spPr>
        <p:txBody>
          <a:bodyPr spcFirstLastPara="1" wrap="square" lIns="91425" tIns="91425" rIns="91425" bIns="91425" anchor="t" anchorCtr="0">
            <a:noAutofit/>
          </a:bodyPr>
          <a:lstStyle/>
          <a:p>
            <a:pPr marR="0" lvl="0" algn="just" rtl="0">
              <a:lnSpc>
                <a:spcPct val="115000"/>
              </a:lnSpc>
              <a:spcBef>
                <a:spcPts val="0"/>
              </a:spcBef>
              <a:spcAft>
                <a:spcPts val="0"/>
              </a:spcAft>
              <a:buClr>
                <a:srgbClr val="000000"/>
              </a:buClr>
              <a:buSzPts val="1800"/>
            </a:pPr>
            <a:r>
              <a:rPr lang="en-IN" sz="1600" b="0" i="0" u="none" strike="noStrike" cap="none" dirty="0">
                <a:solidFill>
                  <a:schemeClr val="tx1"/>
                </a:solidFill>
                <a:latin typeface="+mn-lt"/>
                <a:ea typeface="Calibri"/>
                <a:cs typeface="Calibri"/>
                <a:sym typeface="Calibri"/>
              </a:rPr>
              <a:t>Key Elements &amp; Components </a:t>
            </a:r>
          </a:p>
          <a:p>
            <a:pPr marL="285750" marR="0" lvl="0" indent="-285750" algn="just" rtl="0">
              <a:lnSpc>
                <a:spcPct val="115000"/>
              </a:lnSpc>
              <a:spcBef>
                <a:spcPts val="0"/>
              </a:spcBef>
              <a:spcAft>
                <a:spcPts val="0"/>
              </a:spcAft>
              <a:buClr>
                <a:schemeClr val="tx1"/>
              </a:buClr>
              <a:buSzPts val="1800"/>
              <a:buFont typeface="Arial" panose="020B0604020202020204" pitchFamily="34" charset="0"/>
              <a:buChar char="•"/>
            </a:pPr>
            <a:r>
              <a:rPr lang="en-IN" sz="1600" b="1" i="0" u="none" strike="noStrike" cap="none" dirty="0">
                <a:solidFill>
                  <a:schemeClr val="tx1"/>
                </a:solidFill>
                <a:latin typeface="+mn-lt"/>
                <a:ea typeface="Calibri"/>
                <a:cs typeface="Calibri"/>
                <a:sym typeface="Calibri"/>
              </a:rPr>
              <a:t>Input Handling </a:t>
            </a:r>
            <a:r>
              <a:rPr lang="en-IN" sz="1600" b="0" i="0" u="none" strike="noStrike" cap="none" dirty="0">
                <a:solidFill>
                  <a:schemeClr val="tx1"/>
                </a:solidFill>
                <a:latin typeface="+mn-lt"/>
                <a:ea typeface="Calibri"/>
                <a:cs typeface="Calibri"/>
                <a:sym typeface="Calibri"/>
              </a:rPr>
              <a:t>: Upload PDFs, Word, Emails, Chats.</a:t>
            </a:r>
          </a:p>
          <a:p>
            <a:pPr marL="285750" marR="0" lvl="0" indent="-285750" algn="just" rtl="0">
              <a:lnSpc>
                <a:spcPct val="115000"/>
              </a:lnSpc>
              <a:spcBef>
                <a:spcPts val="0"/>
              </a:spcBef>
              <a:spcAft>
                <a:spcPts val="0"/>
              </a:spcAft>
              <a:buClr>
                <a:schemeClr val="tx1"/>
              </a:buClr>
              <a:buSzPts val="1800"/>
              <a:buFont typeface="Arial" panose="020B0604020202020204" pitchFamily="34" charset="0"/>
              <a:buChar char="•"/>
            </a:pPr>
            <a:r>
              <a:rPr lang="en-IN" sz="1600" b="1" i="0" u="none" strike="noStrike" cap="none" dirty="0">
                <a:solidFill>
                  <a:schemeClr val="tx1"/>
                </a:solidFill>
                <a:latin typeface="+mn-lt"/>
                <a:ea typeface="Calibri"/>
                <a:cs typeface="Calibri"/>
                <a:sym typeface="Calibri"/>
              </a:rPr>
              <a:t>OCR &amp; NLP Processing </a:t>
            </a:r>
            <a:r>
              <a:rPr lang="en-IN" sz="1600" b="0" i="0" u="none" strike="noStrike" cap="none" dirty="0">
                <a:solidFill>
                  <a:schemeClr val="tx1"/>
                </a:solidFill>
                <a:latin typeface="+mn-lt"/>
                <a:ea typeface="Calibri"/>
                <a:cs typeface="Calibri"/>
                <a:sym typeface="Calibri"/>
              </a:rPr>
              <a:t>: AI extracts &amp; structures data.</a:t>
            </a:r>
          </a:p>
          <a:p>
            <a:pPr marL="285750" marR="0" lvl="0" indent="-285750" algn="just" rtl="0">
              <a:lnSpc>
                <a:spcPct val="115000"/>
              </a:lnSpc>
              <a:spcBef>
                <a:spcPts val="0"/>
              </a:spcBef>
              <a:spcAft>
                <a:spcPts val="0"/>
              </a:spcAft>
              <a:buClr>
                <a:schemeClr val="tx1"/>
              </a:buClr>
              <a:buSzPts val="1800"/>
              <a:buFont typeface="Arial" panose="020B0604020202020204" pitchFamily="34" charset="0"/>
              <a:buChar char="•"/>
            </a:pPr>
            <a:r>
              <a:rPr lang="en-IN" sz="1600" b="1" i="0" u="none" strike="noStrike" cap="none" dirty="0">
                <a:solidFill>
                  <a:schemeClr val="tx1"/>
                </a:solidFill>
                <a:latin typeface="+mn-lt"/>
                <a:ea typeface="Calibri"/>
                <a:cs typeface="Calibri"/>
                <a:sym typeface="Calibri"/>
              </a:rPr>
              <a:t>ML Validation Engine </a:t>
            </a:r>
            <a:r>
              <a:rPr lang="en-IN" sz="1600" b="0" i="0" u="none" strike="noStrike" cap="none" dirty="0">
                <a:solidFill>
                  <a:schemeClr val="tx1"/>
                </a:solidFill>
                <a:latin typeface="+mn-lt"/>
                <a:ea typeface="Calibri"/>
                <a:cs typeface="Calibri"/>
                <a:sym typeface="Calibri"/>
              </a:rPr>
              <a:t>: Ensures compliance &amp; accuracy.</a:t>
            </a:r>
          </a:p>
          <a:p>
            <a:pPr marL="285750" marR="0" lvl="0" indent="-285750" algn="just" rtl="0">
              <a:lnSpc>
                <a:spcPct val="115000"/>
              </a:lnSpc>
              <a:spcBef>
                <a:spcPts val="0"/>
              </a:spcBef>
              <a:spcAft>
                <a:spcPts val="0"/>
              </a:spcAft>
              <a:buClr>
                <a:schemeClr val="tx1"/>
              </a:buClr>
              <a:buSzPts val="1800"/>
              <a:buFont typeface="Arial" panose="020B0604020202020204" pitchFamily="34" charset="0"/>
              <a:buChar char="•"/>
            </a:pPr>
            <a:r>
              <a:rPr lang="en-IN" sz="1600" b="1" i="0" u="none" strike="noStrike" cap="none" dirty="0">
                <a:solidFill>
                  <a:schemeClr val="tx1"/>
                </a:solidFill>
                <a:latin typeface="+mn-lt"/>
                <a:ea typeface="Calibri"/>
                <a:cs typeface="Calibri"/>
                <a:sym typeface="Calibri"/>
              </a:rPr>
              <a:t>Error Handling &amp; Feedback </a:t>
            </a:r>
            <a:r>
              <a:rPr lang="en-IN" sz="1600" b="0" i="0" u="none" strike="noStrike" cap="none" dirty="0">
                <a:solidFill>
                  <a:schemeClr val="tx1"/>
                </a:solidFill>
                <a:latin typeface="+mn-lt"/>
                <a:ea typeface="Calibri"/>
                <a:cs typeface="Calibri"/>
                <a:sym typeface="Calibri"/>
              </a:rPr>
              <a:t>: Detects &amp; corrects issues.</a:t>
            </a:r>
          </a:p>
          <a:p>
            <a:pPr marL="285750" marR="0" lvl="0" indent="-285750" algn="just" rtl="0">
              <a:lnSpc>
                <a:spcPct val="115000"/>
              </a:lnSpc>
              <a:spcBef>
                <a:spcPts val="0"/>
              </a:spcBef>
              <a:spcAft>
                <a:spcPts val="0"/>
              </a:spcAft>
              <a:buClr>
                <a:schemeClr val="tx1"/>
              </a:buClr>
              <a:buSzPts val="1800"/>
              <a:buFont typeface="Arial" panose="020B0604020202020204" pitchFamily="34" charset="0"/>
              <a:buChar char="•"/>
            </a:pPr>
            <a:r>
              <a:rPr lang="en-IN" sz="1600" b="1" i="0" u="none" strike="noStrike" cap="none" dirty="0">
                <a:solidFill>
                  <a:schemeClr val="tx1"/>
                </a:solidFill>
                <a:latin typeface="+mn-lt"/>
                <a:ea typeface="Calibri"/>
                <a:cs typeface="Calibri"/>
                <a:sym typeface="Calibri"/>
              </a:rPr>
              <a:t>System Integration </a:t>
            </a:r>
            <a:r>
              <a:rPr lang="en-IN" sz="1600" b="0" i="0" u="none" strike="noStrike" cap="none" dirty="0">
                <a:solidFill>
                  <a:schemeClr val="tx1"/>
                </a:solidFill>
                <a:latin typeface="+mn-lt"/>
                <a:ea typeface="Calibri"/>
                <a:cs typeface="Calibri"/>
                <a:sym typeface="Calibri"/>
              </a:rPr>
              <a:t>: APIs for seamless validation.</a:t>
            </a:r>
          </a:p>
          <a:p>
            <a:pPr marL="342900" marR="0" lvl="0" indent="-342900" algn="just" rtl="0">
              <a:lnSpc>
                <a:spcPct val="115000"/>
              </a:lnSpc>
              <a:spcBef>
                <a:spcPts val="0"/>
              </a:spcBef>
              <a:spcAft>
                <a:spcPts val="0"/>
              </a:spcAft>
              <a:buClr>
                <a:schemeClr val="tx1"/>
              </a:buClr>
              <a:buSzPts val="1800"/>
              <a:buFont typeface="Arial" panose="020B0604020202020204" pitchFamily="34" charset="0"/>
              <a:buChar char="•"/>
            </a:pPr>
            <a:r>
              <a:rPr lang="en-IN" sz="1600" b="1" i="0" u="none" strike="noStrike" cap="none" dirty="0">
                <a:solidFill>
                  <a:schemeClr val="tx1"/>
                </a:solidFill>
                <a:latin typeface="+mn-lt"/>
                <a:ea typeface="Calibri"/>
                <a:cs typeface="Calibri"/>
                <a:sym typeface="Calibri"/>
              </a:rPr>
              <a:t>Final Output </a:t>
            </a:r>
            <a:r>
              <a:rPr lang="en-IN" sz="1600" b="0" i="0" u="none" strike="noStrike" cap="none" dirty="0">
                <a:solidFill>
                  <a:schemeClr val="tx1"/>
                </a:solidFill>
                <a:latin typeface="+mn-lt"/>
                <a:ea typeface="Calibri"/>
                <a:cs typeface="Calibri"/>
                <a:sym typeface="Calibri"/>
              </a:rPr>
              <a:t>: Verified term sheets for reporting.</a:t>
            </a:r>
          </a:p>
        </p:txBody>
      </p:sp>
    </p:spTree>
    <p:extLst>
      <p:ext uri="{BB962C8B-B14F-4D97-AF65-F5344CB8AC3E}">
        <p14:creationId xmlns:p14="http://schemas.microsoft.com/office/powerpoint/2010/main" val="2161146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1141"/>
        </a:solidFill>
        <a:effectLst/>
      </p:bgPr>
    </p:bg>
    <p:spTree>
      <p:nvGrpSpPr>
        <p:cNvPr id="1" name="Shape 100">
          <a:extLst>
            <a:ext uri="{FF2B5EF4-FFF2-40B4-BE49-F238E27FC236}">
              <a16:creationId xmlns:a16="http://schemas.microsoft.com/office/drawing/2014/main" id="{35217956-6781-7547-96CC-D55FD4EF25AE}"/>
            </a:ext>
          </a:extLst>
        </p:cNvPr>
        <p:cNvGrpSpPr/>
        <p:nvPr/>
      </p:nvGrpSpPr>
      <p:grpSpPr>
        <a:xfrm>
          <a:off x="0" y="0"/>
          <a:ext cx="0" cy="0"/>
          <a:chOff x="0" y="0"/>
          <a:chExt cx="0" cy="0"/>
        </a:xfrm>
      </p:grpSpPr>
      <p:sp>
        <p:nvSpPr>
          <p:cNvPr id="101" name="Google Shape;101;g83372e3e9c_0_0">
            <a:extLst>
              <a:ext uri="{FF2B5EF4-FFF2-40B4-BE49-F238E27FC236}">
                <a16:creationId xmlns:a16="http://schemas.microsoft.com/office/drawing/2014/main" id="{DCF451BB-EFE6-FC41-F3C3-08718E72AF79}"/>
              </a:ext>
            </a:extLst>
          </p:cNvPr>
          <p:cNvSpPr txBox="1">
            <a:spLocks noGrp="1"/>
          </p:cNvSpPr>
          <p:nvPr>
            <p:ph type="title"/>
          </p:nvPr>
        </p:nvSpPr>
        <p:spPr>
          <a:xfrm>
            <a:off x="-339756" y="178900"/>
            <a:ext cx="4184100" cy="1538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3000"/>
              <a:buNone/>
            </a:pPr>
            <a:r>
              <a:rPr lang="en" sz="3000" dirty="0">
                <a:solidFill>
                  <a:schemeClr val="accent1">
                    <a:lumMod val="60000"/>
                    <a:lumOff val="40000"/>
                  </a:schemeClr>
                </a:solidFill>
                <a:latin typeface="Arial"/>
                <a:cs typeface="Arial"/>
                <a:sym typeface="Arial"/>
              </a:rPr>
              <a:t>FEASIBILITY</a:t>
            </a:r>
            <a:endParaRPr dirty="0">
              <a:solidFill>
                <a:schemeClr val="accent1">
                  <a:lumMod val="60000"/>
                  <a:lumOff val="40000"/>
                </a:schemeClr>
              </a:solidFill>
            </a:endParaRPr>
          </a:p>
        </p:txBody>
      </p:sp>
      <p:sp>
        <p:nvSpPr>
          <p:cNvPr id="2" name="TextBox 1">
            <a:extLst>
              <a:ext uri="{FF2B5EF4-FFF2-40B4-BE49-F238E27FC236}">
                <a16:creationId xmlns:a16="http://schemas.microsoft.com/office/drawing/2014/main" id="{E01990A8-421B-5621-A9FF-9C5E747B1D25}"/>
              </a:ext>
            </a:extLst>
          </p:cNvPr>
          <p:cNvSpPr txBox="1"/>
          <p:nvPr/>
        </p:nvSpPr>
        <p:spPr>
          <a:xfrm>
            <a:off x="334014" y="1455947"/>
            <a:ext cx="7634329" cy="3262432"/>
          </a:xfrm>
          <a:prstGeom prst="rect">
            <a:avLst/>
          </a:prstGeom>
          <a:noFill/>
        </p:spPr>
        <p:txBody>
          <a:bodyPr wrap="square" rtlCol="0">
            <a:spAutoFit/>
          </a:bodyPr>
          <a:lstStyle/>
          <a:p>
            <a:r>
              <a:rPr lang="en-US" sz="1600" dirty="0">
                <a:solidFill>
                  <a:schemeClr val="tx1"/>
                </a:solidFill>
                <a:latin typeface="+mn-lt"/>
              </a:rPr>
              <a:t>The solution leverages OCR, NLP, and ML for efficient term sheet validation, reducing manual effort and improving accuracy. It is cost-effective with open-source tools and can be integrated into existing workflows. </a:t>
            </a:r>
          </a:p>
          <a:p>
            <a:r>
              <a:rPr lang="en-US" sz="1600" dirty="0">
                <a:solidFill>
                  <a:schemeClr val="tx1"/>
                </a:solidFill>
                <a:latin typeface="+mn-lt"/>
              </a:rPr>
              <a:t>This feasibility assessment considers technical, operational, and cost factors for effective implementation</a:t>
            </a:r>
          </a:p>
          <a:p>
            <a:endParaRPr lang="en-US" sz="1600" dirty="0">
              <a:solidFill>
                <a:schemeClr val="tx1"/>
              </a:solidFill>
              <a:latin typeface="+mn-lt"/>
            </a:endParaRPr>
          </a:p>
          <a:p>
            <a:pPr marL="285750" indent="-285750" algn="just">
              <a:buClr>
                <a:schemeClr val="tx1"/>
              </a:buClr>
              <a:buFont typeface="Arial" panose="020B0604020202020204" pitchFamily="34" charset="0"/>
              <a:buChar char="•"/>
            </a:pPr>
            <a:r>
              <a:rPr lang="en-US" sz="1600" b="1" dirty="0">
                <a:solidFill>
                  <a:schemeClr val="tx1"/>
                </a:solidFill>
                <a:latin typeface="+mn-lt"/>
              </a:rPr>
              <a:t>Technical : </a:t>
            </a:r>
            <a:r>
              <a:rPr lang="en-US" sz="1600" dirty="0">
                <a:solidFill>
                  <a:schemeClr val="tx1"/>
                </a:solidFill>
                <a:latin typeface="+mn-lt"/>
              </a:rPr>
              <a:t>OCR (Tesseract) and NLP (</a:t>
            </a:r>
            <a:r>
              <a:rPr lang="en-US" sz="1600" dirty="0" err="1">
                <a:solidFill>
                  <a:schemeClr val="tx1"/>
                </a:solidFill>
                <a:latin typeface="+mn-lt"/>
              </a:rPr>
              <a:t>SpaCy</a:t>
            </a:r>
            <a:r>
              <a:rPr lang="en-US" sz="1600" dirty="0">
                <a:solidFill>
                  <a:schemeClr val="tx1"/>
                </a:solidFill>
                <a:latin typeface="+mn-lt"/>
              </a:rPr>
              <a:t>, NLTK) are widely supported and easy to integrate with Django and React.</a:t>
            </a:r>
          </a:p>
          <a:p>
            <a:pPr marL="285750" indent="-285750" algn="just">
              <a:buClr>
                <a:schemeClr val="tx1"/>
              </a:buClr>
              <a:buFont typeface="Arial" panose="020B0604020202020204" pitchFamily="34" charset="0"/>
              <a:buChar char="•"/>
            </a:pPr>
            <a:r>
              <a:rPr lang="en-US" sz="1600" b="1" dirty="0">
                <a:solidFill>
                  <a:schemeClr val="tx1"/>
                </a:solidFill>
                <a:latin typeface="+mn-lt"/>
              </a:rPr>
              <a:t>Operational : </a:t>
            </a:r>
            <a:r>
              <a:rPr lang="en-US" sz="1600" dirty="0">
                <a:solidFill>
                  <a:schemeClr val="tx1"/>
                </a:solidFill>
                <a:latin typeface="+mn-lt"/>
              </a:rPr>
              <a:t>Automating validation boosts accuracy, compliance, and efficiency.</a:t>
            </a:r>
          </a:p>
          <a:p>
            <a:pPr marL="285750" indent="-285750" algn="just">
              <a:buClr>
                <a:schemeClr val="tx1"/>
              </a:buClr>
              <a:buFont typeface="Arial" panose="020B0604020202020204" pitchFamily="34" charset="0"/>
              <a:buChar char="•"/>
            </a:pPr>
            <a:r>
              <a:rPr lang="en-US" sz="1600" b="1" dirty="0">
                <a:solidFill>
                  <a:schemeClr val="tx1"/>
                </a:solidFill>
                <a:latin typeface="+mn-lt"/>
              </a:rPr>
              <a:t>Cost : </a:t>
            </a:r>
            <a:r>
              <a:rPr lang="en-US" sz="1600" dirty="0">
                <a:solidFill>
                  <a:schemeClr val="tx1"/>
                </a:solidFill>
                <a:latin typeface="+mn-lt"/>
              </a:rPr>
              <a:t>Initial development is affordable, with ongoing costs depending on cloud services for large-scale processing.</a:t>
            </a:r>
          </a:p>
          <a:p>
            <a:endParaRPr lang="en-IN" dirty="0">
              <a:solidFill>
                <a:schemeClr val="tx1"/>
              </a:solidFill>
              <a:latin typeface="Sabon Next LT (Body)"/>
            </a:endParaRPr>
          </a:p>
        </p:txBody>
      </p:sp>
    </p:spTree>
    <p:extLst>
      <p:ext uri="{BB962C8B-B14F-4D97-AF65-F5344CB8AC3E}">
        <p14:creationId xmlns:p14="http://schemas.microsoft.com/office/powerpoint/2010/main" val="3663258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1141"/>
        </a:solidFill>
        <a:effectLst/>
      </p:bgPr>
    </p:bg>
    <p:spTree>
      <p:nvGrpSpPr>
        <p:cNvPr id="1" name="Shape 91"/>
        <p:cNvGrpSpPr/>
        <p:nvPr/>
      </p:nvGrpSpPr>
      <p:grpSpPr>
        <a:xfrm>
          <a:off x="0" y="0"/>
          <a:ext cx="0" cy="0"/>
          <a:chOff x="0" y="0"/>
          <a:chExt cx="0" cy="0"/>
        </a:xfrm>
      </p:grpSpPr>
      <p:sp>
        <p:nvSpPr>
          <p:cNvPr id="92" name="Google Shape;92;p5"/>
          <p:cNvSpPr txBox="1">
            <a:spLocks noGrp="1"/>
          </p:cNvSpPr>
          <p:nvPr>
            <p:ph type="title" idx="4294967295"/>
          </p:nvPr>
        </p:nvSpPr>
        <p:spPr>
          <a:xfrm>
            <a:off x="265500" y="261300"/>
            <a:ext cx="4306500" cy="9804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800"/>
              <a:buNone/>
            </a:pPr>
            <a:r>
              <a:rPr lang="en" sz="2800" dirty="0">
                <a:solidFill>
                  <a:srgbClr val="0098FF"/>
                </a:solidFill>
                <a:latin typeface="Arial"/>
                <a:cs typeface="Arial"/>
                <a:sym typeface="Arial"/>
              </a:rPr>
              <a:t>SCALABILITY</a:t>
            </a:r>
            <a:endParaRPr sz="3000" dirty="0">
              <a:solidFill>
                <a:srgbClr val="0098FF"/>
              </a:solidFill>
            </a:endParaRPr>
          </a:p>
        </p:txBody>
      </p:sp>
      <p:sp>
        <p:nvSpPr>
          <p:cNvPr id="95" name="Google Shape;95;p5"/>
          <p:cNvSpPr txBox="1"/>
          <p:nvPr/>
        </p:nvSpPr>
        <p:spPr>
          <a:xfrm>
            <a:off x="265500" y="1437006"/>
            <a:ext cx="8142855" cy="1678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US" sz="1600" dirty="0">
                <a:solidFill>
                  <a:schemeClr val="tx1"/>
                </a:solidFill>
                <a:latin typeface="+mn-lt"/>
              </a:rPr>
              <a:t>The system supports cloud deployment, microservices, and parallel processing to handle increasing document volumes. It can be enhanced with advanced ML models and expanded to validate diverse financial documents. The feasibility assessment evaluates key aspects, including technical integration, operational efficiency, and cost-effectiveness.</a:t>
            </a:r>
          </a:p>
          <a:p>
            <a:pPr marL="0" marR="0" lvl="0" indent="0" algn="l" rtl="0">
              <a:lnSpc>
                <a:spcPct val="115000"/>
              </a:lnSpc>
              <a:spcBef>
                <a:spcPts val="0"/>
              </a:spcBef>
              <a:spcAft>
                <a:spcPts val="0"/>
              </a:spcAft>
              <a:buClr>
                <a:srgbClr val="000000"/>
              </a:buClr>
              <a:buSzPts val="1800"/>
              <a:buFont typeface="Arial"/>
              <a:buNone/>
            </a:pPr>
            <a:endParaRPr lang="en-US" sz="1600" dirty="0">
              <a:solidFill>
                <a:schemeClr val="tx1"/>
              </a:solidFill>
              <a:latin typeface="+mn-lt"/>
            </a:endParaRPr>
          </a:p>
          <a:p>
            <a:pPr marL="285750" indent="-285750">
              <a:buClr>
                <a:schemeClr val="tx1"/>
              </a:buClr>
              <a:buFont typeface="Arial" panose="020B0604020202020204" pitchFamily="34" charset="0"/>
              <a:buChar char="•"/>
            </a:pPr>
            <a:r>
              <a:rPr lang="en-US" sz="1600" b="1" dirty="0">
                <a:solidFill>
                  <a:schemeClr val="tx1"/>
                </a:solidFill>
                <a:latin typeface="+mn-lt"/>
              </a:rPr>
              <a:t>Horizontal : </a:t>
            </a:r>
            <a:r>
              <a:rPr lang="en-US" sz="1600" dirty="0">
                <a:solidFill>
                  <a:schemeClr val="tx1"/>
                </a:solidFill>
                <a:latin typeface="+mn-lt"/>
              </a:rPr>
              <a:t>Can scale by deploying multiple backend instances or using microservices.</a:t>
            </a:r>
          </a:p>
          <a:p>
            <a:pPr marL="285750" indent="-285750">
              <a:buClr>
                <a:schemeClr val="tx1"/>
              </a:buClr>
              <a:buFont typeface="Arial" panose="020B0604020202020204" pitchFamily="34" charset="0"/>
              <a:buChar char="•"/>
            </a:pPr>
            <a:r>
              <a:rPr lang="en-US" sz="1600" b="1" dirty="0">
                <a:solidFill>
                  <a:schemeClr val="tx1"/>
                </a:solidFill>
                <a:latin typeface="+mn-lt"/>
              </a:rPr>
              <a:t>Cloud : </a:t>
            </a:r>
            <a:r>
              <a:rPr lang="en-US" sz="1600" dirty="0">
                <a:solidFill>
                  <a:schemeClr val="tx1"/>
                </a:solidFill>
                <a:latin typeface="+mn-lt"/>
              </a:rPr>
              <a:t>Scalable hosting on cloud platforms (AWS, GCP) to handle increased work loads.</a:t>
            </a:r>
          </a:p>
          <a:p>
            <a:pPr marL="285750" indent="-285750">
              <a:buClr>
                <a:schemeClr val="tx1"/>
              </a:buClr>
              <a:buFont typeface="Arial" panose="020B0604020202020204" pitchFamily="34" charset="0"/>
              <a:buChar char="•"/>
            </a:pPr>
            <a:r>
              <a:rPr lang="en-US" sz="1600" b="1" dirty="0">
                <a:solidFill>
                  <a:schemeClr val="tx1"/>
                </a:solidFill>
                <a:latin typeface="+mn-lt"/>
              </a:rPr>
              <a:t>Expansion : </a:t>
            </a:r>
            <a:r>
              <a:rPr lang="en-US" sz="1600" dirty="0">
                <a:solidFill>
                  <a:schemeClr val="tx1"/>
                </a:solidFill>
                <a:latin typeface="+mn-lt"/>
              </a:rPr>
              <a:t>Easy to add new features or document formats as user needs grow.</a:t>
            </a:r>
          </a:p>
          <a:p>
            <a:pPr marL="0" marR="0" lvl="0" indent="0" algn="l" rtl="0">
              <a:lnSpc>
                <a:spcPct val="115000"/>
              </a:lnSpc>
              <a:spcBef>
                <a:spcPts val="0"/>
              </a:spcBef>
              <a:spcAft>
                <a:spcPts val="0"/>
              </a:spcAft>
              <a:buClr>
                <a:srgbClr val="000000"/>
              </a:buClr>
              <a:buSzPts val="1800"/>
              <a:buFont typeface="Arial"/>
              <a:buNone/>
            </a:pPr>
            <a:endParaRPr sz="1600" b="0" i="0" u="none" strike="noStrike" cap="none" dirty="0">
              <a:solidFill>
                <a:schemeClr val="tx1"/>
              </a:solidFill>
              <a:latin typeface="Sabon Next LT (Body)"/>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1141"/>
        </a:solidFill>
        <a:effectLst/>
      </p:bgPr>
    </p:bg>
    <p:spTree>
      <p:nvGrpSpPr>
        <p:cNvPr id="1" name="Shape 91">
          <a:extLst>
            <a:ext uri="{FF2B5EF4-FFF2-40B4-BE49-F238E27FC236}">
              <a16:creationId xmlns:a16="http://schemas.microsoft.com/office/drawing/2014/main" id="{F576EE89-0FC1-C244-558B-7D5943FDA75A}"/>
            </a:ext>
          </a:extLst>
        </p:cNvPr>
        <p:cNvGrpSpPr/>
        <p:nvPr/>
      </p:nvGrpSpPr>
      <p:grpSpPr>
        <a:xfrm>
          <a:off x="0" y="0"/>
          <a:ext cx="0" cy="0"/>
          <a:chOff x="0" y="0"/>
          <a:chExt cx="0" cy="0"/>
        </a:xfrm>
      </p:grpSpPr>
      <p:sp>
        <p:nvSpPr>
          <p:cNvPr id="92" name="Google Shape;92;p5">
            <a:extLst>
              <a:ext uri="{FF2B5EF4-FFF2-40B4-BE49-F238E27FC236}">
                <a16:creationId xmlns:a16="http://schemas.microsoft.com/office/drawing/2014/main" id="{93C1D841-3F89-329A-5E6F-C656C77FDD07}"/>
              </a:ext>
            </a:extLst>
          </p:cNvPr>
          <p:cNvSpPr txBox="1">
            <a:spLocks noGrp="1"/>
          </p:cNvSpPr>
          <p:nvPr>
            <p:ph type="title" idx="4294967295"/>
          </p:nvPr>
        </p:nvSpPr>
        <p:spPr>
          <a:xfrm>
            <a:off x="265500" y="261300"/>
            <a:ext cx="4306500" cy="9804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800"/>
              <a:buNone/>
            </a:pPr>
            <a:r>
              <a:rPr lang="en" sz="2800" dirty="0">
                <a:solidFill>
                  <a:srgbClr val="0098FF"/>
                </a:solidFill>
                <a:latin typeface="Arial"/>
                <a:cs typeface="Arial"/>
                <a:sym typeface="Arial"/>
              </a:rPr>
              <a:t>TECH STACK</a:t>
            </a:r>
            <a:endParaRPr sz="3000" dirty="0">
              <a:solidFill>
                <a:srgbClr val="0098FF"/>
              </a:solidFill>
            </a:endParaRPr>
          </a:p>
        </p:txBody>
      </p:sp>
      <p:sp>
        <p:nvSpPr>
          <p:cNvPr id="95" name="Google Shape;95;p5">
            <a:extLst>
              <a:ext uri="{FF2B5EF4-FFF2-40B4-BE49-F238E27FC236}">
                <a16:creationId xmlns:a16="http://schemas.microsoft.com/office/drawing/2014/main" id="{1DE7C71C-5011-FB46-DFBF-2EA92AED3803}"/>
              </a:ext>
            </a:extLst>
          </p:cNvPr>
          <p:cNvSpPr txBox="1"/>
          <p:nvPr/>
        </p:nvSpPr>
        <p:spPr>
          <a:xfrm>
            <a:off x="265500" y="1437006"/>
            <a:ext cx="8142855" cy="3079992"/>
          </a:xfrm>
          <a:prstGeom prst="rect">
            <a:avLst/>
          </a:prstGeom>
          <a:noFill/>
          <a:ln>
            <a:noFill/>
          </a:ln>
        </p:spPr>
        <p:txBody>
          <a:bodyPr spcFirstLastPara="1" wrap="square" lIns="91425" tIns="91425" rIns="91425" bIns="91425" anchor="t" anchorCtr="0">
            <a:noAutofit/>
          </a:bodyPr>
          <a:lstStyle/>
          <a:p>
            <a:pPr marL="285750" marR="0" lvl="0" indent="-285750" algn="l" rtl="0">
              <a:lnSpc>
                <a:spcPct val="115000"/>
              </a:lnSpc>
              <a:spcBef>
                <a:spcPts val="0"/>
              </a:spcBef>
              <a:spcAft>
                <a:spcPts val="0"/>
              </a:spcAft>
              <a:buClr>
                <a:schemeClr val="tx1"/>
              </a:buClr>
              <a:buSzPts val="1800"/>
              <a:buFont typeface="Arial" panose="020B0604020202020204" pitchFamily="34" charset="0"/>
              <a:buChar char="•"/>
            </a:pPr>
            <a:r>
              <a:rPr lang="en-IN" sz="1600" b="0" i="0" u="none" strike="noStrike" cap="none" dirty="0">
                <a:solidFill>
                  <a:schemeClr val="tx1"/>
                </a:solidFill>
                <a:latin typeface="+mn-lt"/>
                <a:ea typeface="Calibri"/>
                <a:cs typeface="Calibri"/>
                <a:sym typeface="Calibri"/>
              </a:rPr>
              <a:t>Frontend – HTML, CSS, JavaScript, and React.js for interactive UI.</a:t>
            </a:r>
          </a:p>
          <a:p>
            <a:pPr marL="285750" marR="0" lvl="0" indent="-285750" algn="l" rtl="0">
              <a:lnSpc>
                <a:spcPct val="115000"/>
              </a:lnSpc>
              <a:spcBef>
                <a:spcPts val="0"/>
              </a:spcBef>
              <a:spcAft>
                <a:spcPts val="0"/>
              </a:spcAft>
              <a:buClr>
                <a:schemeClr val="tx1"/>
              </a:buClr>
              <a:buSzPts val="1800"/>
              <a:buFont typeface="Arial" panose="020B0604020202020204" pitchFamily="34" charset="0"/>
              <a:buChar char="•"/>
            </a:pPr>
            <a:r>
              <a:rPr lang="en-IN" sz="1600" b="0" i="0" u="none" strike="noStrike" cap="none" dirty="0">
                <a:solidFill>
                  <a:schemeClr val="tx1"/>
                </a:solidFill>
                <a:latin typeface="+mn-lt"/>
                <a:ea typeface="Calibri"/>
                <a:cs typeface="Calibri"/>
                <a:sym typeface="Calibri"/>
              </a:rPr>
              <a:t>Backend &amp; API Framework – </a:t>
            </a:r>
            <a:r>
              <a:rPr lang="en-IN" sz="1600" b="0" i="0" u="none" strike="noStrike" cap="none" dirty="0" err="1">
                <a:solidFill>
                  <a:schemeClr val="tx1"/>
                </a:solidFill>
                <a:latin typeface="+mn-lt"/>
                <a:ea typeface="Calibri"/>
                <a:cs typeface="Calibri"/>
                <a:sym typeface="Calibri"/>
              </a:rPr>
              <a:t>FastAPI</a:t>
            </a:r>
            <a:r>
              <a:rPr lang="en-IN" sz="1600" b="0" i="0" u="none" strike="noStrike" cap="none" dirty="0">
                <a:solidFill>
                  <a:schemeClr val="tx1"/>
                </a:solidFill>
                <a:latin typeface="+mn-lt"/>
                <a:ea typeface="Calibri"/>
                <a:cs typeface="Calibri"/>
                <a:sym typeface="Calibri"/>
              </a:rPr>
              <a:t> for high-performance API interactions.</a:t>
            </a:r>
          </a:p>
          <a:p>
            <a:pPr marL="285750" marR="0" lvl="0" indent="-285750" algn="l" rtl="0">
              <a:lnSpc>
                <a:spcPct val="115000"/>
              </a:lnSpc>
              <a:spcBef>
                <a:spcPts val="0"/>
              </a:spcBef>
              <a:spcAft>
                <a:spcPts val="0"/>
              </a:spcAft>
              <a:buClr>
                <a:schemeClr val="tx1"/>
              </a:buClr>
              <a:buSzPts val="1800"/>
              <a:buFont typeface="Arial" panose="020B0604020202020204" pitchFamily="34" charset="0"/>
              <a:buChar char="•"/>
            </a:pPr>
            <a:r>
              <a:rPr lang="en-IN" sz="1600" b="0" i="0" u="none" strike="noStrike" cap="none" dirty="0">
                <a:solidFill>
                  <a:schemeClr val="tx1"/>
                </a:solidFill>
                <a:latin typeface="+mn-lt"/>
                <a:ea typeface="Calibri"/>
                <a:cs typeface="Calibri"/>
                <a:sym typeface="Calibri"/>
              </a:rPr>
              <a:t>Database – PostgreSQL, MySQL, and MongoDB for structured and unstructured data storage.</a:t>
            </a:r>
          </a:p>
          <a:p>
            <a:pPr marL="285750" marR="0" lvl="0" indent="-285750" algn="l" rtl="0">
              <a:lnSpc>
                <a:spcPct val="115000"/>
              </a:lnSpc>
              <a:spcBef>
                <a:spcPts val="0"/>
              </a:spcBef>
              <a:spcAft>
                <a:spcPts val="0"/>
              </a:spcAft>
              <a:buClr>
                <a:schemeClr val="tx1"/>
              </a:buClr>
              <a:buSzPts val="1800"/>
              <a:buFont typeface="Arial" panose="020B0604020202020204" pitchFamily="34" charset="0"/>
              <a:buChar char="•"/>
            </a:pPr>
            <a:r>
              <a:rPr lang="en-IN" sz="1600" b="0" i="0" u="none" strike="noStrike" cap="none" dirty="0">
                <a:solidFill>
                  <a:schemeClr val="tx1"/>
                </a:solidFill>
                <a:latin typeface="+mn-lt"/>
                <a:ea typeface="Calibri"/>
                <a:cs typeface="Calibri"/>
                <a:sym typeface="Calibri"/>
              </a:rPr>
              <a:t>AI &amp; Data Processing – OCR (Tesseract), NLP (SpaCy, NLTK), and pandas for document parsing.</a:t>
            </a:r>
          </a:p>
          <a:p>
            <a:pPr marL="285750" marR="0" lvl="0" indent="-285750" algn="l" rtl="0">
              <a:lnSpc>
                <a:spcPct val="115000"/>
              </a:lnSpc>
              <a:spcBef>
                <a:spcPts val="0"/>
              </a:spcBef>
              <a:spcAft>
                <a:spcPts val="0"/>
              </a:spcAft>
              <a:buClr>
                <a:schemeClr val="tx1"/>
              </a:buClr>
              <a:buSzPts val="1800"/>
              <a:buFont typeface="Arial" panose="020B0604020202020204" pitchFamily="34" charset="0"/>
              <a:buChar char="•"/>
            </a:pPr>
            <a:r>
              <a:rPr lang="en-IN" sz="1600" b="0" i="0" u="none" strike="noStrike" cap="none" dirty="0">
                <a:solidFill>
                  <a:schemeClr val="tx1"/>
                </a:solidFill>
                <a:latin typeface="+mn-lt"/>
                <a:ea typeface="Calibri"/>
                <a:cs typeface="Calibri"/>
                <a:sym typeface="Calibri"/>
              </a:rPr>
              <a:t>Machine Learning – Custom ML models for validation and anomaly detection.</a:t>
            </a:r>
          </a:p>
          <a:p>
            <a:pPr marL="285750" marR="0" lvl="0" indent="-285750" algn="l" rtl="0">
              <a:lnSpc>
                <a:spcPct val="115000"/>
              </a:lnSpc>
              <a:spcBef>
                <a:spcPts val="0"/>
              </a:spcBef>
              <a:spcAft>
                <a:spcPts val="0"/>
              </a:spcAft>
              <a:buClr>
                <a:schemeClr val="tx1"/>
              </a:buClr>
              <a:buSzPts val="1800"/>
              <a:buFont typeface="Arial" panose="020B0604020202020204" pitchFamily="34" charset="0"/>
              <a:buChar char="•"/>
            </a:pPr>
            <a:r>
              <a:rPr lang="en-IN" sz="1600" b="0" i="0" u="none" strike="noStrike" cap="none" dirty="0">
                <a:solidFill>
                  <a:schemeClr val="tx1"/>
                </a:solidFill>
                <a:latin typeface="+mn-lt"/>
                <a:ea typeface="Calibri"/>
                <a:cs typeface="Calibri"/>
                <a:sym typeface="Calibri"/>
              </a:rPr>
              <a:t>Security &amp; Authentication – JWT, bcrypt for secure access control.</a:t>
            </a:r>
          </a:p>
          <a:p>
            <a:pPr marL="285750" marR="0" lvl="0" indent="-285750" algn="l" rtl="0">
              <a:lnSpc>
                <a:spcPct val="115000"/>
              </a:lnSpc>
              <a:spcBef>
                <a:spcPts val="0"/>
              </a:spcBef>
              <a:spcAft>
                <a:spcPts val="0"/>
              </a:spcAft>
              <a:buClr>
                <a:schemeClr val="tx1"/>
              </a:buClr>
              <a:buSzPts val="1800"/>
              <a:buFont typeface="Arial" panose="020B0604020202020204" pitchFamily="34" charset="0"/>
              <a:buChar char="•"/>
            </a:pPr>
            <a:r>
              <a:rPr lang="en-IN" sz="1600" b="0" i="0" u="none" strike="noStrike" cap="none" dirty="0">
                <a:solidFill>
                  <a:schemeClr val="tx1"/>
                </a:solidFill>
                <a:latin typeface="+mn-lt"/>
                <a:ea typeface="Calibri"/>
                <a:cs typeface="Calibri"/>
                <a:sym typeface="Calibri"/>
              </a:rPr>
              <a:t>Storage &amp; Caching – Redis, SQLAlchemy for fast, scalable data management.</a:t>
            </a:r>
          </a:p>
        </p:txBody>
      </p:sp>
    </p:spTree>
    <p:extLst>
      <p:ext uri="{BB962C8B-B14F-4D97-AF65-F5344CB8AC3E}">
        <p14:creationId xmlns:p14="http://schemas.microsoft.com/office/powerpoint/2010/main" val="829629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1141"/>
        </a:solidFill>
        <a:effectLst/>
      </p:bgPr>
    </p:bg>
    <p:spTree>
      <p:nvGrpSpPr>
        <p:cNvPr id="1" name="Shape 91">
          <a:extLst>
            <a:ext uri="{FF2B5EF4-FFF2-40B4-BE49-F238E27FC236}">
              <a16:creationId xmlns:a16="http://schemas.microsoft.com/office/drawing/2014/main" id="{F9002AF5-2E4D-8DA7-D267-9B39749EDC91}"/>
            </a:ext>
          </a:extLst>
        </p:cNvPr>
        <p:cNvGrpSpPr/>
        <p:nvPr/>
      </p:nvGrpSpPr>
      <p:grpSpPr>
        <a:xfrm>
          <a:off x="0" y="0"/>
          <a:ext cx="0" cy="0"/>
          <a:chOff x="0" y="0"/>
          <a:chExt cx="0" cy="0"/>
        </a:xfrm>
      </p:grpSpPr>
      <p:sp>
        <p:nvSpPr>
          <p:cNvPr id="92" name="Google Shape;92;p5">
            <a:extLst>
              <a:ext uri="{FF2B5EF4-FFF2-40B4-BE49-F238E27FC236}">
                <a16:creationId xmlns:a16="http://schemas.microsoft.com/office/drawing/2014/main" id="{2723011B-1088-CFD1-A000-C4B0BD084858}"/>
              </a:ext>
            </a:extLst>
          </p:cNvPr>
          <p:cNvSpPr txBox="1">
            <a:spLocks noGrp="1"/>
          </p:cNvSpPr>
          <p:nvPr>
            <p:ph type="title" idx="4294967295"/>
          </p:nvPr>
        </p:nvSpPr>
        <p:spPr>
          <a:xfrm>
            <a:off x="265500" y="-151945"/>
            <a:ext cx="7860972" cy="9804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800"/>
              <a:buNone/>
            </a:pPr>
            <a:r>
              <a:rPr lang="en" sz="2800" dirty="0">
                <a:solidFill>
                  <a:srgbClr val="0098FF"/>
                </a:solidFill>
                <a:latin typeface="Arial"/>
                <a:cs typeface="Arial"/>
                <a:sym typeface="Arial"/>
              </a:rPr>
              <a:t>WORKFLOW</a:t>
            </a:r>
            <a:endParaRPr sz="3000" dirty="0">
              <a:solidFill>
                <a:srgbClr val="0098FF"/>
              </a:solidFill>
            </a:endParaRPr>
          </a:p>
        </p:txBody>
      </p:sp>
      <p:sp>
        <p:nvSpPr>
          <p:cNvPr id="95" name="Google Shape;95;p5">
            <a:extLst>
              <a:ext uri="{FF2B5EF4-FFF2-40B4-BE49-F238E27FC236}">
                <a16:creationId xmlns:a16="http://schemas.microsoft.com/office/drawing/2014/main" id="{9B44E15C-FE52-E622-2906-7763D4818852}"/>
              </a:ext>
            </a:extLst>
          </p:cNvPr>
          <p:cNvSpPr txBox="1"/>
          <p:nvPr/>
        </p:nvSpPr>
        <p:spPr>
          <a:xfrm>
            <a:off x="158412" y="2433220"/>
            <a:ext cx="8521500" cy="2338160"/>
          </a:xfrm>
          <a:prstGeom prst="rect">
            <a:avLst/>
          </a:prstGeom>
          <a:noFill/>
          <a:ln>
            <a:noFill/>
          </a:ln>
        </p:spPr>
        <p:txBody>
          <a:bodyPr spcFirstLastPara="1" wrap="square" lIns="91425" tIns="91425" rIns="91425" bIns="91425" anchor="t" anchorCtr="0">
            <a:noAutofit/>
          </a:bodyPr>
          <a:lstStyle/>
          <a:p>
            <a:pPr marR="0" lvl="0" algn="just" rtl="0">
              <a:lnSpc>
                <a:spcPct val="115000"/>
              </a:lnSpc>
              <a:spcBef>
                <a:spcPts val="0"/>
              </a:spcBef>
              <a:spcAft>
                <a:spcPts val="0"/>
              </a:spcAft>
              <a:buClr>
                <a:srgbClr val="000000"/>
              </a:buClr>
              <a:buSzPts val="1800"/>
            </a:pPr>
            <a:r>
              <a:rPr lang="en-IN" sz="1600" b="0" i="0" u="none" strike="noStrike" cap="none" dirty="0">
                <a:solidFill>
                  <a:schemeClr val="tx1"/>
                </a:solidFill>
                <a:latin typeface="Sabon Next LT (Body)"/>
                <a:ea typeface="Calibri"/>
                <a:cs typeface="Calibri"/>
                <a:sym typeface="Calibri"/>
              </a:rPr>
              <a:t>       </a:t>
            </a:r>
          </a:p>
        </p:txBody>
      </p:sp>
      <p:pic>
        <p:nvPicPr>
          <p:cNvPr id="3" name="Picture 2">
            <a:extLst>
              <a:ext uri="{FF2B5EF4-FFF2-40B4-BE49-F238E27FC236}">
                <a16:creationId xmlns:a16="http://schemas.microsoft.com/office/drawing/2014/main" id="{8DE32ADE-9640-AE31-5D70-76843987AED8}"/>
              </a:ext>
            </a:extLst>
          </p:cNvPr>
          <p:cNvPicPr>
            <a:picLocks noChangeAspect="1"/>
          </p:cNvPicPr>
          <p:nvPr/>
        </p:nvPicPr>
        <p:blipFill>
          <a:blip r:embed="rId3"/>
          <a:stretch>
            <a:fillRect/>
          </a:stretch>
        </p:blipFill>
        <p:spPr>
          <a:xfrm>
            <a:off x="209963" y="1303260"/>
            <a:ext cx="8469949" cy="3468120"/>
          </a:xfrm>
          <a:prstGeom prst="rect">
            <a:avLst/>
          </a:prstGeom>
        </p:spPr>
      </p:pic>
    </p:spTree>
    <p:extLst>
      <p:ext uri="{BB962C8B-B14F-4D97-AF65-F5344CB8AC3E}">
        <p14:creationId xmlns:p14="http://schemas.microsoft.com/office/powerpoint/2010/main" val="3100190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51141"/>
        </a:solidFill>
        <a:effectLst/>
      </p:bgPr>
    </p:bg>
    <p:spTree>
      <p:nvGrpSpPr>
        <p:cNvPr id="1" name="Shape 107"/>
        <p:cNvGrpSpPr/>
        <p:nvPr/>
      </p:nvGrpSpPr>
      <p:grpSpPr>
        <a:xfrm>
          <a:off x="0" y="0"/>
          <a:ext cx="0" cy="0"/>
          <a:chOff x="0" y="0"/>
          <a:chExt cx="0" cy="0"/>
        </a:xfrm>
      </p:grpSpPr>
      <p:sp>
        <p:nvSpPr>
          <p:cNvPr id="108" name="Google Shape;108;g83372e3e9c_2_0"/>
          <p:cNvSpPr txBox="1">
            <a:spLocks noGrp="1"/>
          </p:cNvSpPr>
          <p:nvPr>
            <p:ph type="title"/>
          </p:nvPr>
        </p:nvSpPr>
        <p:spPr>
          <a:xfrm>
            <a:off x="226900" y="253575"/>
            <a:ext cx="8368200" cy="1538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3000"/>
              <a:buNone/>
            </a:pPr>
            <a:r>
              <a:rPr lang="en" sz="3000">
                <a:solidFill>
                  <a:schemeClr val="dk1"/>
                </a:solidFill>
                <a:latin typeface="Arial"/>
                <a:ea typeface="Arial"/>
                <a:cs typeface="Arial"/>
                <a:sym typeface="Arial"/>
              </a:rPr>
              <a:t>Attachments</a:t>
            </a:r>
            <a:endParaRPr>
              <a:solidFill>
                <a:schemeClr val="dk1"/>
              </a:solidFill>
            </a:endParaRPr>
          </a:p>
        </p:txBody>
      </p:sp>
      <p:sp>
        <p:nvSpPr>
          <p:cNvPr id="109" name="Google Shape;109;g83372e3e9c_2_0"/>
          <p:cNvSpPr txBox="1">
            <a:spLocks noGrp="1"/>
          </p:cNvSpPr>
          <p:nvPr>
            <p:ph type="body" idx="1"/>
          </p:nvPr>
        </p:nvSpPr>
        <p:spPr>
          <a:xfrm>
            <a:off x="468875" y="1561250"/>
            <a:ext cx="8368200" cy="3319500"/>
          </a:xfrm>
          <a:prstGeom prst="rect">
            <a:avLst/>
          </a:prstGeom>
          <a:noFill/>
          <a:ln>
            <a:noFill/>
          </a:ln>
        </p:spPr>
        <p:txBody>
          <a:bodyPr spcFirstLastPara="1" wrap="square" lIns="91425" tIns="91425" rIns="91425" bIns="91425" anchor="t" anchorCtr="0">
            <a:noAutofit/>
          </a:bodyPr>
          <a:lstStyle/>
          <a:p>
            <a:pPr marL="914400" lvl="0" indent="0" algn="ctr" rtl="0">
              <a:lnSpc>
                <a:spcPct val="115000"/>
              </a:lnSpc>
              <a:spcBef>
                <a:spcPts val="0"/>
              </a:spcBef>
              <a:spcAft>
                <a:spcPts val="0"/>
              </a:spcAft>
              <a:buSzPts val="1800"/>
              <a:buNone/>
            </a:pPr>
            <a:endParaRPr i="1" dirty="0">
              <a:solidFill>
                <a:srgbClr val="3D85C6"/>
              </a:solidFill>
              <a:latin typeface="Arial"/>
              <a:ea typeface="Arial"/>
              <a:cs typeface="Arial"/>
              <a:sym typeface="Arial"/>
            </a:endParaRPr>
          </a:p>
          <a:p>
            <a:pPr marL="914400" lvl="0" indent="0" algn="ctr" rtl="0">
              <a:lnSpc>
                <a:spcPct val="115000"/>
              </a:lnSpc>
              <a:spcBef>
                <a:spcPts val="0"/>
              </a:spcBef>
              <a:spcAft>
                <a:spcPts val="0"/>
              </a:spcAft>
              <a:buSzPts val="1800"/>
              <a:buNone/>
            </a:pPr>
            <a:endParaRPr i="1" dirty="0">
              <a:solidFill>
                <a:srgbClr val="3D85C6"/>
              </a:solidFill>
              <a:latin typeface="Arial"/>
              <a:ea typeface="Arial"/>
              <a:cs typeface="Arial"/>
              <a:sym typeface="Arial"/>
            </a:endParaRPr>
          </a:p>
        </p:txBody>
      </p:sp>
      <p:pic>
        <p:nvPicPr>
          <p:cNvPr id="3" name="Picture 2">
            <a:extLst>
              <a:ext uri="{FF2B5EF4-FFF2-40B4-BE49-F238E27FC236}">
                <a16:creationId xmlns:a16="http://schemas.microsoft.com/office/drawing/2014/main" id="{EEA14FBE-8EF8-A87A-9AF9-9F9CD7375001}"/>
              </a:ext>
            </a:extLst>
          </p:cNvPr>
          <p:cNvPicPr>
            <a:picLocks noChangeAspect="1"/>
          </p:cNvPicPr>
          <p:nvPr/>
        </p:nvPicPr>
        <p:blipFill>
          <a:blip r:embed="rId3"/>
          <a:stretch>
            <a:fillRect/>
          </a:stretch>
        </p:blipFill>
        <p:spPr>
          <a:xfrm>
            <a:off x="135045" y="1724171"/>
            <a:ext cx="4436955" cy="2355208"/>
          </a:xfrm>
          <a:prstGeom prst="rect">
            <a:avLst/>
          </a:prstGeom>
        </p:spPr>
      </p:pic>
      <p:pic>
        <p:nvPicPr>
          <p:cNvPr id="5" name="Picture 4">
            <a:extLst>
              <a:ext uri="{FF2B5EF4-FFF2-40B4-BE49-F238E27FC236}">
                <a16:creationId xmlns:a16="http://schemas.microsoft.com/office/drawing/2014/main" id="{3384F225-F558-0EAB-84C8-211C33525944}"/>
              </a:ext>
            </a:extLst>
          </p:cNvPr>
          <p:cNvPicPr>
            <a:picLocks noChangeAspect="1"/>
          </p:cNvPicPr>
          <p:nvPr/>
        </p:nvPicPr>
        <p:blipFill>
          <a:blip r:embed="rId4"/>
          <a:stretch>
            <a:fillRect/>
          </a:stretch>
        </p:blipFill>
        <p:spPr>
          <a:xfrm>
            <a:off x="4663855" y="1724170"/>
            <a:ext cx="4415195" cy="235520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51141"/>
        </a:solidFill>
        <a:effectLst/>
      </p:bgPr>
    </p:bg>
    <p:spTree>
      <p:nvGrpSpPr>
        <p:cNvPr id="1" name="Shape 107">
          <a:extLst>
            <a:ext uri="{FF2B5EF4-FFF2-40B4-BE49-F238E27FC236}">
              <a16:creationId xmlns:a16="http://schemas.microsoft.com/office/drawing/2014/main" id="{4B088BA3-D7EA-59EF-0362-64C1A40DB3B2}"/>
            </a:ext>
          </a:extLst>
        </p:cNvPr>
        <p:cNvGrpSpPr/>
        <p:nvPr/>
      </p:nvGrpSpPr>
      <p:grpSpPr>
        <a:xfrm>
          <a:off x="0" y="0"/>
          <a:ext cx="0" cy="0"/>
          <a:chOff x="0" y="0"/>
          <a:chExt cx="0" cy="0"/>
        </a:xfrm>
      </p:grpSpPr>
      <p:sp>
        <p:nvSpPr>
          <p:cNvPr id="108" name="Google Shape;108;g83372e3e9c_2_0">
            <a:extLst>
              <a:ext uri="{FF2B5EF4-FFF2-40B4-BE49-F238E27FC236}">
                <a16:creationId xmlns:a16="http://schemas.microsoft.com/office/drawing/2014/main" id="{171FAD5C-E8E7-5E60-E666-6DFFBA59BFBE}"/>
              </a:ext>
            </a:extLst>
          </p:cNvPr>
          <p:cNvSpPr txBox="1">
            <a:spLocks noGrp="1"/>
          </p:cNvSpPr>
          <p:nvPr>
            <p:ph type="title"/>
          </p:nvPr>
        </p:nvSpPr>
        <p:spPr>
          <a:xfrm>
            <a:off x="226900" y="253575"/>
            <a:ext cx="8368200" cy="1538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3000"/>
              <a:buNone/>
            </a:pPr>
            <a:r>
              <a:rPr lang="en" sz="3000">
                <a:solidFill>
                  <a:schemeClr val="dk1"/>
                </a:solidFill>
                <a:latin typeface="Arial"/>
                <a:ea typeface="Arial"/>
                <a:cs typeface="Arial"/>
                <a:sym typeface="Arial"/>
              </a:rPr>
              <a:t>Attachments</a:t>
            </a:r>
            <a:endParaRPr>
              <a:solidFill>
                <a:schemeClr val="dk1"/>
              </a:solidFill>
            </a:endParaRPr>
          </a:p>
        </p:txBody>
      </p:sp>
      <p:sp>
        <p:nvSpPr>
          <p:cNvPr id="109" name="Google Shape;109;g83372e3e9c_2_0">
            <a:extLst>
              <a:ext uri="{FF2B5EF4-FFF2-40B4-BE49-F238E27FC236}">
                <a16:creationId xmlns:a16="http://schemas.microsoft.com/office/drawing/2014/main" id="{09E8B740-850F-EC6C-3439-B7C80489E04F}"/>
              </a:ext>
            </a:extLst>
          </p:cNvPr>
          <p:cNvSpPr txBox="1">
            <a:spLocks noGrp="1"/>
          </p:cNvSpPr>
          <p:nvPr>
            <p:ph type="body" idx="1"/>
          </p:nvPr>
        </p:nvSpPr>
        <p:spPr>
          <a:xfrm>
            <a:off x="468875" y="1561250"/>
            <a:ext cx="8368200" cy="3319500"/>
          </a:xfrm>
          <a:prstGeom prst="rect">
            <a:avLst/>
          </a:prstGeom>
          <a:noFill/>
          <a:ln>
            <a:noFill/>
          </a:ln>
        </p:spPr>
        <p:txBody>
          <a:bodyPr spcFirstLastPara="1" wrap="square" lIns="91425" tIns="91425" rIns="91425" bIns="91425" anchor="t" anchorCtr="0">
            <a:noAutofit/>
          </a:bodyPr>
          <a:lstStyle/>
          <a:p>
            <a:pPr marL="914400" lvl="0" indent="0" algn="ctr" rtl="0">
              <a:lnSpc>
                <a:spcPct val="115000"/>
              </a:lnSpc>
              <a:spcBef>
                <a:spcPts val="0"/>
              </a:spcBef>
              <a:spcAft>
                <a:spcPts val="0"/>
              </a:spcAft>
              <a:buSzPts val="1800"/>
              <a:buNone/>
            </a:pPr>
            <a:endParaRPr i="1" dirty="0">
              <a:solidFill>
                <a:srgbClr val="3D85C6"/>
              </a:solidFill>
              <a:latin typeface="Arial"/>
              <a:ea typeface="Arial"/>
              <a:cs typeface="Arial"/>
              <a:sym typeface="Arial"/>
            </a:endParaRPr>
          </a:p>
          <a:p>
            <a:pPr marL="914400" lvl="0" indent="0" algn="ctr" rtl="0">
              <a:lnSpc>
                <a:spcPct val="115000"/>
              </a:lnSpc>
              <a:spcBef>
                <a:spcPts val="0"/>
              </a:spcBef>
              <a:spcAft>
                <a:spcPts val="0"/>
              </a:spcAft>
              <a:buSzPts val="1800"/>
              <a:buNone/>
            </a:pPr>
            <a:endParaRPr i="1" dirty="0">
              <a:solidFill>
                <a:srgbClr val="3D85C6"/>
              </a:solidFill>
              <a:latin typeface="Arial"/>
              <a:ea typeface="Arial"/>
              <a:cs typeface="Arial"/>
              <a:sym typeface="Arial"/>
            </a:endParaRPr>
          </a:p>
        </p:txBody>
      </p:sp>
      <p:pic>
        <p:nvPicPr>
          <p:cNvPr id="4" name="Picture 3">
            <a:extLst>
              <a:ext uri="{FF2B5EF4-FFF2-40B4-BE49-F238E27FC236}">
                <a16:creationId xmlns:a16="http://schemas.microsoft.com/office/drawing/2014/main" id="{DE2E6DE6-442D-37D1-0BBD-4441A2F090F4}"/>
              </a:ext>
            </a:extLst>
          </p:cNvPr>
          <p:cNvPicPr>
            <a:picLocks noChangeAspect="1"/>
          </p:cNvPicPr>
          <p:nvPr/>
        </p:nvPicPr>
        <p:blipFill>
          <a:blip r:embed="rId3"/>
          <a:stretch>
            <a:fillRect/>
          </a:stretch>
        </p:blipFill>
        <p:spPr>
          <a:xfrm>
            <a:off x="385010" y="1737313"/>
            <a:ext cx="4089394" cy="2134023"/>
          </a:xfrm>
          <a:prstGeom prst="rect">
            <a:avLst/>
          </a:prstGeom>
        </p:spPr>
      </p:pic>
      <p:pic>
        <p:nvPicPr>
          <p:cNvPr id="8" name="Picture 7">
            <a:extLst>
              <a:ext uri="{FF2B5EF4-FFF2-40B4-BE49-F238E27FC236}">
                <a16:creationId xmlns:a16="http://schemas.microsoft.com/office/drawing/2014/main" id="{0A448690-0518-5236-9FAA-A783DCC32B31}"/>
              </a:ext>
            </a:extLst>
          </p:cNvPr>
          <p:cNvPicPr>
            <a:picLocks noChangeAspect="1"/>
          </p:cNvPicPr>
          <p:nvPr/>
        </p:nvPicPr>
        <p:blipFill>
          <a:blip r:embed="rId4"/>
          <a:stretch>
            <a:fillRect/>
          </a:stretch>
        </p:blipFill>
        <p:spPr>
          <a:xfrm>
            <a:off x="4734547" y="2855300"/>
            <a:ext cx="4024443" cy="1894569"/>
          </a:xfrm>
          <a:prstGeom prst="rect">
            <a:avLst/>
          </a:prstGeom>
        </p:spPr>
      </p:pic>
    </p:spTree>
    <p:extLst>
      <p:ext uri="{BB962C8B-B14F-4D97-AF65-F5344CB8AC3E}">
        <p14:creationId xmlns:p14="http://schemas.microsoft.com/office/powerpoint/2010/main" val="2556930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51141"/>
        </a:solidFill>
        <a:effectLst/>
      </p:bgPr>
    </p:bg>
    <p:spTree>
      <p:nvGrpSpPr>
        <p:cNvPr id="1" name="Shape 100"/>
        <p:cNvGrpSpPr/>
        <p:nvPr/>
      </p:nvGrpSpPr>
      <p:grpSpPr>
        <a:xfrm>
          <a:off x="0" y="0"/>
          <a:ext cx="0" cy="0"/>
          <a:chOff x="0" y="0"/>
          <a:chExt cx="0" cy="0"/>
        </a:xfrm>
      </p:grpSpPr>
      <p:sp>
        <p:nvSpPr>
          <p:cNvPr id="101" name="Google Shape;101;g83372e3e9c_0_0"/>
          <p:cNvSpPr txBox="1">
            <a:spLocks noGrp="1"/>
          </p:cNvSpPr>
          <p:nvPr>
            <p:ph type="title"/>
          </p:nvPr>
        </p:nvSpPr>
        <p:spPr>
          <a:xfrm>
            <a:off x="226900" y="253575"/>
            <a:ext cx="8368200" cy="1538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3000"/>
              <a:buNone/>
            </a:pPr>
            <a:r>
              <a:rPr lang="en" sz="3000">
                <a:solidFill>
                  <a:schemeClr val="dk1"/>
                </a:solidFill>
                <a:latin typeface="Arial"/>
                <a:ea typeface="Arial"/>
                <a:cs typeface="Arial"/>
                <a:sym typeface="Arial"/>
              </a:rPr>
              <a:t>WORKING PROTOTYPE</a:t>
            </a:r>
            <a:endParaRPr>
              <a:solidFill>
                <a:schemeClr val="dk1"/>
              </a:solidFill>
            </a:endParaRPr>
          </a:p>
        </p:txBody>
      </p:sp>
      <p:sp>
        <p:nvSpPr>
          <p:cNvPr id="102" name="Google Shape;102;g83372e3e9c_0_0"/>
          <p:cNvSpPr txBox="1">
            <a:spLocks noGrp="1"/>
          </p:cNvSpPr>
          <p:nvPr>
            <p:ph type="body" idx="1"/>
          </p:nvPr>
        </p:nvSpPr>
        <p:spPr>
          <a:xfrm>
            <a:off x="468875" y="1561250"/>
            <a:ext cx="8368200" cy="3319500"/>
          </a:xfrm>
          <a:prstGeom prst="rect">
            <a:avLst/>
          </a:prstGeom>
          <a:noFill/>
          <a:ln>
            <a:noFill/>
          </a:ln>
        </p:spPr>
        <p:txBody>
          <a:bodyPr spcFirstLastPara="1" wrap="square" lIns="91425" tIns="91425" rIns="91425" bIns="91425" anchor="t" anchorCtr="0">
            <a:noAutofit/>
          </a:bodyPr>
          <a:lstStyle/>
          <a:p>
            <a:pPr marL="1828800" lvl="0" indent="457200" algn="l" rtl="0">
              <a:lnSpc>
                <a:spcPct val="115000"/>
              </a:lnSpc>
              <a:spcBef>
                <a:spcPts val="0"/>
              </a:spcBef>
              <a:spcAft>
                <a:spcPts val="0"/>
              </a:spcAft>
              <a:buSzPts val="1800"/>
              <a:buNone/>
            </a:pPr>
            <a:r>
              <a:rPr lang="en-US" sz="2600" i="1" dirty="0">
                <a:solidFill>
                  <a:srgbClr val="3D85C6"/>
                </a:solidFill>
                <a:latin typeface="Arial"/>
                <a:ea typeface="Arial"/>
                <a:cs typeface="Arial"/>
                <a:sym typeface="Arial"/>
                <a:hlinkClick r:id="rId3"/>
              </a:rPr>
              <a:t>TermSheetAI </a:t>
            </a:r>
            <a:endParaRPr sz="2600" i="1" dirty="0">
              <a:solidFill>
                <a:srgbClr val="3D85C6"/>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683</Words>
  <Application>Microsoft Office PowerPoint</Application>
  <PresentationFormat>On-screen Show (16:9)</PresentationFormat>
  <Paragraphs>55</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Roboto</vt:lpstr>
      <vt:lpstr>Arial</vt:lpstr>
      <vt:lpstr>Roboto Slab</vt:lpstr>
      <vt:lpstr>Sabon Next LT (Body)</vt:lpstr>
      <vt:lpstr>Calibri</vt:lpstr>
      <vt:lpstr>Marina</vt:lpstr>
      <vt:lpstr>PowerPoint Presentation</vt:lpstr>
      <vt:lpstr>     MEMBER DETAILS</vt:lpstr>
      <vt:lpstr>PROBLEM STATEMENT</vt:lpstr>
      <vt:lpstr>SOLUTION</vt:lpstr>
      <vt:lpstr>SOLUTION</vt:lpstr>
      <vt:lpstr>METHODOLOGY</vt:lpstr>
      <vt:lpstr>FEASIBILITY</vt:lpstr>
      <vt:lpstr>SCALABILITY</vt:lpstr>
      <vt:lpstr>TECH STACK</vt:lpstr>
      <vt:lpstr>WORKFLOW</vt:lpstr>
      <vt:lpstr>Attachments</vt:lpstr>
      <vt:lpstr>Attachments</vt:lpstr>
      <vt:lpstr>WORKING PROTOTYPE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Sarthak rastogi</cp:lastModifiedBy>
  <cp:revision>5</cp:revision>
  <dcterms:modified xsi:type="dcterms:W3CDTF">2025-04-29T09:42:58Z</dcterms:modified>
</cp:coreProperties>
</file>